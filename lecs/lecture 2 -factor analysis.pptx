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46"/>
  </p:notesMasterIdLst>
  <p:sldIdLst>
    <p:sldId id="256" r:id="rId2"/>
    <p:sldId id="336" r:id="rId3"/>
    <p:sldId id="337" r:id="rId4"/>
    <p:sldId id="359" r:id="rId5"/>
    <p:sldId id="339" r:id="rId6"/>
    <p:sldId id="342" r:id="rId7"/>
    <p:sldId id="360" r:id="rId8"/>
    <p:sldId id="341" r:id="rId9"/>
    <p:sldId id="361" r:id="rId10"/>
    <p:sldId id="343" r:id="rId11"/>
    <p:sldId id="344" r:id="rId12"/>
    <p:sldId id="362" r:id="rId13"/>
    <p:sldId id="345" r:id="rId14"/>
    <p:sldId id="346" r:id="rId15"/>
    <p:sldId id="347" r:id="rId16"/>
    <p:sldId id="348" r:id="rId17"/>
    <p:sldId id="349" r:id="rId18"/>
    <p:sldId id="350" r:id="rId19"/>
    <p:sldId id="363" r:id="rId20"/>
    <p:sldId id="351" r:id="rId21"/>
    <p:sldId id="353" r:id="rId22"/>
    <p:sldId id="354" r:id="rId23"/>
    <p:sldId id="355" r:id="rId24"/>
    <p:sldId id="356" r:id="rId25"/>
    <p:sldId id="357" r:id="rId26"/>
    <p:sldId id="358" r:id="rId27"/>
    <p:sldId id="364" r:id="rId28"/>
    <p:sldId id="365" r:id="rId29"/>
    <p:sldId id="366" r:id="rId30"/>
    <p:sldId id="367" r:id="rId31"/>
    <p:sldId id="368" r:id="rId32"/>
    <p:sldId id="369" r:id="rId33"/>
    <p:sldId id="370" r:id="rId34"/>
    <p:sldId id="372" r:id="rId35"/>
    <p:sldId id="373" r:id="rId36"/>
    <p:sldId id="374" r:id="rId37"/>
    <p:sldId id="375" r:id="rId38"/>
    <p:sldId id="376" r:id="rId39"/>
    <p:sldId id="377" r:id="rId40"/>
    <p:sldId id="378" r:id="rId41"/>
    <p:sldId id="379" r:id="rId42"/>
    <p:sldId id="380" r:id="rId43"/>
    <p:sldId id="381" r:id="rId44"/>
    <p:sldId id="382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7010" autoAdjust="0"/>
  </p:normalViewPr>
  <p:slideViewPr>
    <p:cSldViewPr>
      <p:cViewPr varScale="1">
        <p:scale>
          <a:sx n="85" d="100"/>
          <a:sy n="85" d="100"/>
        </p:scale>
        <p:origin x="13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821866-8828-4D62-9B48-FFAB8EE6A2F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490531-D4CF-45D4-9912-88A1758DE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18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90531-D4CF-45D4-9912-88A1758DEAC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82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90531-D4CF-45D4-9912-88A1758DEAC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82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90531-D4CF-45D4-9912-88A1758DEAC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82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90531-D4CF-45D4-9912-88A1758DEAC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82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90531-D4CF-45D4-9912-88A1758DEAC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82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90531-D4CF-45D4-9912-88A1758DEAC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827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90531-D4CF-45D4-9912-88A1758DEA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827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90531-D4CF-45D4-9912-88A1758DEAC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82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90531-D4CF-45D4-9912-88A1758DEAC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827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90531-D4CF-45D4-9912-88A1758DEAC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82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90531-D4CF-45D4-9912-88A1758DEAC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827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90531-D4CF-45D4-9912-88A1758DEAC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827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90531-D4CF-45D4-9912-88A1758DEAC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82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E151-C012-4C1F-B0EB-6BA7FE41EB4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0DD2-8F40-4033-B9A8-FB67A982D46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E151-C012-4C1F-B0EB-6BA7FE41EB4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0DD2-8F40-4033-B9A8-FB67A982D4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E151-C012-4C1F-B0EB-6BA7FE41EB4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0DD2-8F40-4033-B9A8-FB67A982D46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E151-C012-4C1F-B0EB-6BA7FE41EB4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0DD2-8F40-4033-B9A8-FB67A982D4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E151-C012-4C1F-B0EB-6BA7FE41EB4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0DD2-8F40-4033-B9A8-FB67A982D468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E151-C012-4C1F-B0EB-6BA7FE41EB4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0DD2-8F40-4033-B9A8-FB67A982D4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E151-C012-4C1F-B0EB-6BA7FE41EB4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0DD2-8F40-4033-B9A8-FB67A982D4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E151-C012-4C1F-B0EB-6BA7FE41EB4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0DD2-8F40-4033-B9A8-FB67A982D46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E151-C012-4C1F-B0EB-6BA7FE41EB4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0DD2-8F40-4033-B9A8-FB67A982D4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E151-C012-4C1F-B0EB-6BA7FE41EB4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0DD2-8F40-4033-B9A8-FB67A982D4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E151-C012-4C1F-B0EB-6BA7FE41EB4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F0DD2-8F40-4033-B9A8-FB67A982D4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4BE4E151-C012-4C1F-B0EB-6BA7FE41EB4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688F0DD2-8F40-4033-B9A8-FB67A982D46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33400"/>
            <a:ext cx="7772400" cy="1829761"/>
          </a:xfrm>
        </p:spPr>
        <p:txBody>
          <a:bodyPr>
            <a:normAutofit/>
          </a:bodyPr>
          <a:lstStyle/>
          <a:p>
            <a:pPr algn="ctr"/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</a:t>
            </a:r>
            <a:r>
              <a:rPr lang="en-US" sz="5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3657600"/>
            <a:ext cx="7391400" cy="17526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 Analysis</a:t>
            </a:r>
          </a:p>
        </p:txBody>
      </p:sp>
    </p:spTree>
    <p:extLst>
      <p:ext uri="{BB962C8B-B14F-4D97-AF65-F5344CB8AC3E}">
        <p14:creationId xmlns:p14="http://schemas.microsoft.com/office/powerpoint/2010/main" val="3424914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Steps in Factor Analysis: The Correlation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191000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Factor analysis usually proceeds in four steps:</a:t>
            </a:r>
          </a:p>
          <a:p>
            <a:pPr marL="274320" lvl="1" indent="0">
              <a:buNone/>
            </a:pPr>
            <a:endParaRPr lang="en-US" sz="1800" u="sng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u="sng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u="sng" baseline="30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2400" u="sng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u="sng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Step</a:t>
            </a: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: the correlation matrix for all variables is computed</a:t>
            </a:r>
          </a:p>
          <a:p>
            <a:pPr lvl="1"/>
            <a:r>
              <a:rPr lang="en-US" sz="2400" u="sng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u="sng" baseline="300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sz="2400" u="sng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Step</a:t>
            </a: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: Factor extraction</a:t>
            </a:r>
          </a:p>
          <a:p>
            <a:pPr lvl="1"/>
            <a:r>
              <a:rPr lang="en-US" sz="2400" u="sng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u="sng" baseline="300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sz="2400" u="sng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Step</a:t>
            </a: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: Factor rotation</a:t>
            </a:r>
          </a:p>
          <a:p>
            <a:pPr lvl="1"/>
            <a:r>
              <a:rPr lang="en-US" sz="2400" u="sng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400" u="sng" baseline="300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u="sng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Step</a:t>
            </a: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: Make final decisions about the number of underlying factors </a:t>
            </a:r>
          </a:p>
          <a:p>
            <a:pPr marL="274320" lvl="1" indent="-274320" algn="justLow">
              <a:buFont typeface="Wingdings 2"/>
              <a:buChar char=""/>
              <a:defRPr/>
            </a:pPr>
            <a:endParaRPr lang="en-US" sz="2400" dirty="0">
              <a:solidFill>
                <a:srgbClr val="7030A0"/>
              </a:solidFill>
            </a:endParaRPr>
          </a:p>
          <a:p>
            <a:pPr marL="274638" lvl="1" indent="0" algn="justLow">
              <a:lnSpc>
                <a:spcPct val="150000"/>
              </a:lnSpc>
              <a:buNone/>
              <a:defRPr/>
            </a:pPr>
            <a:endParaRPr 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indent="-274320">
              <a:buNone/>
              <a:defRPr/>
            </a:pP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lvl="1" indent="0">
              <a:buNone/>
            </a:pP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sz="36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98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458200" cy="9906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Steps in Factor </a:t>
            </a:r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Analysis: The </a:t>
            </a:r>
            <a:r>
              <a:rPr lang="en-US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Correlation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191000"/>
          </a:xfrm>
        </p:spPr>
        <p:txBody>
          <a:bodyPr>
            <a:noAutofit/>
          </a:bodyPr>
          <a:lstStyle/>
          <a:p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b="1" u="sng" baseline="30000" dirty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 Step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: the correlation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matrix :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lvl="1" algn="justLow"/>
            <a: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Generate a correlation matrix for all </a:t>
            </a:r>
            <a:r>
              <a:rPr lang="en-US" sz="32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variables.</a:t>
            </a:r>
            <a:endParaRPr lang="en-US" sz="3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Low"/>
            <a: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Identify variables not related to other </a:t>
            </a:r>
            <a:r>
              <a:rPr lang="en-US" sz="32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variables.</a:t>
            </a:r>
            <a:endParaRPr lang="en-US" sz="3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Low"/>
            <a: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If the correlation between variables are small, it is unlikely that they share common factors (variables must be related to each other for the factor model to be appropriate).</a:t>
            </a:r>
          </a:p>
          <a:p>
            <a:pPr marL="0" lvl="1" indent="0" algn="justLow">
              <a:buNone/>
              <a:defRPr/>
            </a:pPr>
            <a:endParaRPr lang="en-US" sz="3600" dirty="0">
              <a:solidFill>
                <a:srgbClr val="7030A0"/>
              </a:solidFill>
            </a:endParaRPr>
          </a:p>
          <a:p>
            <a:pPr marL="274638" lvl="1" indent="0" algn="justLow">
              <a:lnSpc>
                <a:spcPct val="150000"/>
              </a:lnSpc>
              <a:buNone/>
              <a:defRPr/>
            </a:pPr>
            <a:endParaRPr 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indent="-274320">
              <a:buNone/>
              <a:defRPr/>
            </a:pP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lvl="1" indent="0">
              <a:buNone/>
            </a:pP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sz="36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024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458200" cy="9906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Steps in Factor </a:t>
            </a:r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Analysis: The </a:t>
            </a:r>
            <a:r>
              <a:rPr lang="en-US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Correlation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191000"/>
          </a:xfrm>
        </p:spPr>
        <p:txBody>
          <a:bodyPr>
            <a:noAutofit/>
          </a:bodyPr>
          <a:lstStyle/>
          <a:p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b="1" u="sng" baseline="30000" dirty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 Step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: the correlation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matrix :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lvl="1" algn="justLow"/>
            <a: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Think of correlations in absolute value.</a:t>
            </a:r>
          </a:p>
          <a:p>
            <a:pPr lvl="1" algn="justLow"/>
            <a: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Correlation coefficients greater than 0.3 in absolute value are indicative of acceptable correlations.</a:t>
            </a:r>
          </a:p>
          <a:p>
            <a:pPr lvl="1" algn="justLow"/>
            <a: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Examine visually the appropriateness of the factor model.</a:t>
            </a:r>
          </a:p>
          <a:p>
            <a:pPr marL="0" lvl="1" indent="0" algn="justLow">
              <a:buNone/>
              <a:defRPr/>
            </a:pPr>
            <a:endParaRPr lang="en-US" sz="3600" dirty="0">
              <a:solidFill>
                <a:srgbClr val="7030A0"/>
              </a:solidFill>
            </a:endParaRPr>
          </a:p>
          <a:p>
            <a:pPr marL="274638" lvl="1" indent="0" algn="justLow">
              <a:lnSpc>
                <a:spcPct val="150000"/>
              </a:lnSpc>
              <a:buNone/>
              <a:defRPr/>
            </a:pPr>
            <a:endParaRPr 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indent="-274320">
              <a:buNone/>
              <a:defRPr/>
            </a:pP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lvl="1" indent="0">
              <a:buNone/>
            </a:pP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sz="36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81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458200" cy="9906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Steps in Factor </a:t>
            </a:r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Analysis: The </a:t>
            </a:r>
            <a:r>
              <a:rPr lang="en-US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Correlation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981200"/>
            <a:ext cx="8229600" cy="4191000"/>
          </a:xfrm>
        </p:spPr>
        <p:txBody>
          <a:bodyPr>
            <a:noAutofit/>
          </a:bodyPr>
          <a:lstStyle/>
          <a:p>
            <a:pPr marL="274320" lvl="1" indent="-274320" algn="justLow">
              <a:buFont typeface="Wingdings 2"/>
              <a:buChar char=""/>
              <a:defRPr/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Kaiser-Meyer-</a:t>
            </a:r>
            <a:r>
              <a:rPr lang="en-US" sz="2400" b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Olkin</a:t>
            </a: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Measure of Sampling Adequacy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This measure varies between 0 and 1, and values closer to 1 are better.  A value of .6 is a suggested minimum. 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274320" lvl="1" indent="-274320" algn="justLow">
              <a:buFont typeface="Wingdings 2"/>
              <a:buChar char=""/>
              <a:defRPr/>
            </a:pPr>
            <a:endParaRPr lang="en-US" dirty="0">
              <a:solidFill>
                <a:srgbClr val="7030A0"/>
              </a:solidFill>
            </a:endParaRPr>
          </a:p>
          <a:p>
            <a:pPr marL="274320" lvl="1" indent="-274320" algn="justLow">
              <a:buFont typeface="Wingdings 2"/>
              <a:buChar char=""/>
              <a:defRPr/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Bartlett’s Test of </a:t>
            </a:r>
            <a:r>
              <a:rPr lang="en-US" sz="2400" b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Sphericity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This tests the null hypothesis that the correlation matrix is an identity matrix.  An identity matrix is matrix in which all of the diagonal elements are 1 and all off diagonal elements are 0.  You want to reject this null hypothesis. </a:t>
            </a: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638" lvl="1" indent="0" algn="justLow">
              <a:lnSpc>
                <a:spcPct val="150000"/>
              </a:lnSpc>
              <a:buNone/>
              <a:defRPr/>
            </a:pPr>
            <a:endParaRPr 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indent="-274320">
              <a:buNone/>
              <a:defRPr/>
            </a:pP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lvl="1" indent="0">
              <a:buNone/>
            </a:pP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45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458200" cy="9906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Steps in Factor </a:t>
            </a:r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Analysis: Factor Extraction</a:t>
            </a:r>
            <a:endParaRPr lang="en-US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8229600" cy="4953000"/>
          </a:xfrm>
        </p:spPr>
        <p:txBody>
          <a:bodyPr>
            <a:noAutofit/>
          </a:bodyPr>
          <a:lstStyle/>
          <a:p>
            <a:pPr marL="274320" lvl="1" indent="-274320">
              <a:buFont typeface="Wingdings 2"/>
              <a:buChar char=""/>
              <a:defRPr/>
            </a:pPr>
            <a:r>
              <a:rPr lang="en-US" sz="2800" b="1" u="sng" dirty="0">
                <a:solidFill>
                  <a:srgbClr val="7030A0"/>
                </a:solidFill>
              </a:rPr>
              <a:t>2</a:t>
            </a:r>
            <a:r>
              <a:rPr lang="en-US" sz="2800" b="1" u="sng" baseline="30000" dirty="0">
                <a:solidFill>
                  <a:srgbClr val="7030A0"/>
                </a:solidFill>
              </a:rPr>
              <a:t>nd</a:t>
            </a:r>
            <a:r>
              <a:rPr lang="en-US" sz="2800" b="1" u="sng" dirty="0">
                <a:solidFill>
                  <a:srgbClr val="7030A0"/>
                </a:solidFill>
              </a:rPr>
              <a:t> Step</a:t>
            </a:r>
            <a:r>
              <a:rPr lang="en-US" sz="2800" b="1" dirty="0">
                <a:solidFill>
                  <a:srgbClr val="7030A0"/>
                </a:solidFill>
              </a:rPr>
              <a:t>: Factor extraction</a:t>
            </a:r>
          </a:p>
          <a:p>
            <a:pPr marL="548640" lvl="2">
              <a:buSzPct val="85000"/>
              <a:buFont typeface="Wingdings 2"/>
              <a:buChar char=""/>
              <a:defRPr/>
            </a:pPr>
            <a:r>
              <a:rPr lang="en-US" sz="2600" dirty="0"/>
              <a:t>The primary objective of this stage is to determine the factors.</a:t>
            </a:r>
          </a:p>
          <a:p>
            <a:pPr marL="548640" lvl="2">
              <a:buSzPct val="85000"/>
              <a:buFont typeface="Wingdings 2"/>
              <a:buChar char=""/>
              <a:defRPr/>
            </a:pPr>
            <a:r>
              <a:rPr lang="en-US" sz="2600" dirty="0"/>
              <a:t>Initial decisions can be made here about the number of factors underlying a set of measured variables.</a:t>
            </a:r>
          </a:p>
          <a:p>
            <a:pPr marL="548640" lvl="2">
              <a:buSzPct val="85000"/>
              <a:buFont typeface="Wingdings 2"/>
              <a:buChar char=""/>
              <a:defRPr/>
            </a:pPr>
            <a:r>
              <a:rPr lang="en-US" sz="2600" dirty="0"/>
              <a:t>Estimates of initial factors are obtained using </a:t>
            </a:r>
            <a:r>
              <a:rPr lang="en-US" sz="2600" b="1" dirty="0"/>
              <a:t>Principal components analysis</a:t>
            </a:r>
            <a:r>
              <a:rPr lang="en-US" sz="2600" dirty="0"/>
              <a:t>.</a:t>
            </a:r>
          </a:p>
          <a:p>
            <a:pPr marL="274320" indent="-274320">
              <a:buNone/>
              <a:defRPr/>
            </a:pPr>
            <a:endParaRPr lang="en-US" sz="2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lvl="1" indent="0">
              <a:buNone/>
            </a:pP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046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458200" cy="9906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Steps in Factor </a:t>
            </a:r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Analysis: Factor Extraction</a:t>
            </a:r>
            <a:endParaRPr lang="en-US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8229600" cy="4953000"/>
          </a:xfrm>
        </p:spPr>
        <p:txBody>
          <a:bodyPr>
            <a:noAutofit/>
          </a:bodyPr>
          <a:lstStyle/>
          <a:p>
            <a:pPr marL="274320" lvl="1" indent="-274320">
              <a:buFont typeface="Wingdings 2"/>
              <a:buChar char=""/>
              <a:defRPr/>
            </a:pPr>
            <a:r>
              <a:rPr lang="en-US" sz="2800" b="1" u="sng" dirty="0" smtClean="0">
                <a:solidFill>
                  <a:srgbClr val="7030A0"/>
                </a:solidFill>
              </a:rPr>
              <a:t>2</a:t>
            </a:r>
            <a:r>
              <a:rPr lang="en-US" sz="2800" b="1" u="sng" baseline="30000" dirty="0" smtClean="0">
                <a:solidFill>
                  <a:srgbClr val="7030A0"/>
                </a:solidFill>
              </a:rPr>
              <a:t>nd</a:t>
            </a:r>
            <a:r>
              <a:rPr lang="en-US" sz="2800" b="1" u="sng" dirty="0" smtClean="0">
                <a:solidFill>
                  <a:srgbClr val="7030A0"/>
                </a:solidFill>
              </a:rPr>
              <a:t> Step</a:t>
            </a:r>
            <a:r>
              <a:rPr lang="en-US" sz="2800" b="1" dirty="0" smtClean="0">
                <a:solidFill>
                  <a:srgbClr val="7030A0"/>
                </a:solidFill>
              </a:rPr>
              <a:t>: Factor extraction</a:t>
            </a:r>
          </a:p>
          <a:p>
            <a:pPr marL="548640" lvl="2">
              <a:buSzPct val="85000"/>
              <a:buFont typeface="Wingdings 2"/>
              <a:buChar char=""/>
              <a:defRPr/>
            </a:pPr>
            <a:r>
              <a:rPr lang="en-US" sz="2600" b="1" dirty="0"/>
              <a:t>The principal components analysis </a:t>
            </a:r>
            <a:r>
              <a:rPr lang="en-US" sz="2600" dirty="0"/>
              <a:t>is the most commonly used extraction method . Other factor extraction methods include:</a:t>
            </a:r>
          </a:p>
          <a:p>
            <a:pPr marL="822960" lvl="3">
              <a:buSzPct val="85000"/>
              <a:buFont typeface="Wingdings 2"/>
              <a:buChar char=""/>
              <a:defRPr/>
            </a:pPr>
            <a:r>
              <a:rPr lang="en-US" sz="2600" dirty="0">
                <a:solidFill>
                  <a:srgbClr val="FF0000"/>
                </a:solidFill>
              </a:rPr>
              <a:t>Maximum likelihood </a:t>
            </a:r>
            <a:r>
              <a:rPr lang="en-US" sz="2600" dirty="0" smtClean="0">
                <a:solidFill>
                  <a:srgbClr val="FF0000"/>
                </a:solidFill>
              </a:rPr>
              <a:t>method.</a:t>
            </a:r>
            <a:endParaRPr lang="en-US" sz="2600" dirty="0">
              <a:solidFill>
                <a:srgbClr val="FF0000"/>
              </a:solidFill>
            </a:endParaRPr>
          </a:p>
          <a:p>
            <a:pPr marL="822960" lvl="3">
              <a:buSzPct val="85000"/>
              <a:buFont typeface="Wingdings 2"/>
              <a:buChar char=""/>
              <a:defRPr/>
            </a:pPr>
            <a:r>
              <a:rPr lang="en-US" sz="2600" dirty="0">
                <a:solidFill>
                  <a:srgbClr val="FF0000"/>
                </a:solidFill>
              </a:rPr>
              <a:t>Principal axis </a:t>
            </a:r>
            <a:r>
              <a:rPr lang="en-US" sz="2600" dirty="0" smtClean="0">
                <a:solidFill>
                  <a:srgbClr val="FF0000"/>
                </a:solidFill>
              </a:rPr>
              <a:t>factoring.</a:t>
            </a:r>
            <a:endParaRPr lang="en-US" sz="2600" dirty="0">
              <a:solidFill>
                <a:srgbClr val="FF0000"/>
              </a:solidFill>
            </a:endParaRPr>
          </a:p>
          <a:p>
            <a:pPr marL="822960" lvl="3">
              <a:buSzPct val="85000"/>
              <a:buFont typeface="Wingdings 2"/>
              <a:buChar char=""/>
              <a:defRPr/>
            </a:pPr>
            <a:r>
              <a:rPr lang="en-US" sz="2600" dirty="0">
                <a:solidFill>
                  <a:srgbClr val="FF0000"/>
                </a:solidFill>
              </a:rPr>
              <a:t>Alpha </a:t>
            </a:r>
            <a:r>
              <a:rPr lang="en-US" sz="2600" dirty="0" smtClean="0">
                <a:solidFill>
                  <a:srgbClr val="FF0000"/>
                </a:solidFill>
              </a:rPr>
              <a:t>method.</a:t>
            </a:r>
            <a:endParaRPr lang="en-US" sz="2600" dirty="0">
              <a:solidFill>
                <a:srgbClr val="FF0000"/>
              </a:solidFill>
            </a:endParaRPr>
          </a:p>
          <a:p>
            <a:pPr marL="822960" lvl="3">
              <a:buSzPct val="85000"/>
              <a:buFont typeface="Wingdings 2"/>
              <a:buChar char=""/>
              <a:defRPr/>
            </a:pPr>
            <a:r>
              <a:rPr lang="en-US" sz="2600" dirty="0" err="1">
                <a:solidFill>
                  <a:srgbClr val="FF0000"/>
                </a:solidFill>
              </a:rPr>
              <a:t>Unweighted</a:t>
            </a:r>
            <a:r>
              <a:rPr lang="en-US" sz="2600" dirty="0">
                <a:solidFill>
                  <a:srgbClr val="FF0000"/>
                </a:solidFill>
              </a:rPr>
              <a:t> lease squares </a:t>
            </a:r>
            <a:r>
              <a:rPr lang="en-US" sz="2600" dirty="0" smtClean="0">
                <a:solidFill>
                  <a:srgbClr val="FF0000"/>
                </a:solidFill>
              </a:rPr>
              <a:t>method.</a:t>
            </a:r>
            <a:endParaRPr lang="en-US" sz="2600" dirty="0">
              <a:solidFill>
                <a:srgbClr val="FF0000"/>
              </a:solidFill>
            </a:endParaRPr>
          </a:p>
          <a:p>
            <a:pPr marL="822960" lvl="3">
              <a:buSzPct val="85000"/>
              <a:buFont typeface="Wingdings 2"/>
              <a:buChar char=""/>
              <a:defRPr/>
            </a:pPr>
            <a:r>
              <a:rPr lang="en-US" sz="2600" dirty="0">
                <a:solidFill>
                  <a:srgbClr val="FF0000"/>
                </a:solidFill>
              </a:rPr>
              <a:t>Generalized least square </a:t>
            </a:r>
            <a:r>
              <a:rPr lang="en-US" sz="2600" dirty="0" smtClean="0">
                <a:solidFill>
                  <a:srgbClr val="FF0000"/>
                </a:solidFill>
              </a:rPr>
              <a:t>method.</a:t>
            </a:r>
            <a:endParaRPr lang="en-US" sz="2600" dirty="0">
              <a:solidFill>
                <a:srgbClr val="FF0000"/>
              </a:solidFill>
            </a:endParaRPr>
          </a:p>
          <a:p>
            <a:pPr marL="822960" lvl="3">
              <a:buSzPct val="85000"/>
              <a:buFont typeface="Wingdings 2"/>
              <a:buChar char=""/>
              <a:defRPr/>
            </a:pPr>
            <a:r>
              <a:rPr lang="en-US" sz="2600" dirty="0">
                <a:solidFill>
                  <a:srgbClr val="FF0000"/>
                </a:solidFill>
              </a:rPr>
              <a:t>Image </a:t>
            </a:r>
            <a:r>
              <a:rPr lang="en-US" sz="2600" dirty="0" smtClean="0">
                <a:solidFill>
                  <a:srgbClr val="FF0000"/>
                </a:solidFill>
              </a:rPr>
              <a:t>factoring.</a:t>
            </a:r>
            <a:endParaRPr lang="en-US" sz="2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lvl="1" indent="0">
              <a:buNone/>
            </a:pP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745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458200" cy="9906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Steps in Factor </a:t>
            </a:r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Analysis: Factor Extraction</a:t>
            </a:r>
            <a:endParaRPr lang="en-US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8229600" cy="4191000"/>
          </a:xfrm>
        </p:spPr>
        <p:txBody>
          <a:bodyPr>
            <a:noAutofit/>
          </a:bodyPr>
          <a:lstStyle/>
          <a:p>
            <a:pPr marL="274320" indent="-274320" algn="justLow">
              <a:buFont typeface="Wingdings 2"/>
              <a:buChar char=""/>
              <a:defRPr/>
            </a:pPr>
            <a:r>
              <a:rPr lang="en-US" sz="2800" dirty="0"/>
              <a:t>In </a:t>
            </a:r>
            <a:r>
              <a:rPr lang="en-US" sz="2800" b="1" dirty="0"/>
              <a:t>principal components </a:t>
            </a:r>
            <a:r>
              <a:rPr lang="en-US" sz="2800" dirty="0"/>
              <a:t>analysis, </a:t>
            </a:r>
            <a:r>
              <a:rPr lang="en-US" sz="2800" b="1" dirty="0"/>
              <a:t>linear combinations </a:t>
            </a:r>
            <a:r>
              <a:rPr lang="en-US" sz="2800" dirty="0"/>
              <a:t>of the observed variables are formed.</a:t>
            </a:r>
          </a:p>
          <a:p>
            <a:pPr marL="274320" indent="-274320" algn="justLow">
              <a:buNone/>
              <a:defRPr/>
            </a:pPr>
            <a:endParaRPr lang="en-US" sz="2800" dirty="0"/>
          </a:p>
          <a:p>
            <a:pPr marL="274320" indent="-274320" algn="justLow">
              <a:buFont typeface="Wingdings 2"/>
              <a:buChar char=""/>
              <a:defRPr/>
            </a:pPr>
            <a:r>
              <a:rPr lang="en-US" sz="2800" dirty="0"/>
              <a:t>The </a:t>
            </a:r>
            <a:r>
              <a:rPr lang="en-US" sz="2800" b="1" dirty="0"/>
              <a:t>1</a:t>
            </a:r>
            <a:r>
              <a:rPr lang="en-US" sz="2800" b="1" baseline="30000" dirty="0"/>
              <a:t>st</a:t>
            </a:r>
            <a:r>
              <a:rPr lang="en-US" sz="2800" b="1" dirty="0"/>
              <a:t>  principal component </a:t>
            </a:r>
            <a:r>
              <a:rPr lang="en-US" sz="2800" dirty="0"/>
              <a:t>is the combination that accounts for the </a:t>
            </a:r>
            <a:r>
              <a:rPr lang="en-US" sz="2800" b="1" dirty="0"/>
              <a:t>largest amount of variance </a:t>
            </a:r>
            <a:r>
              <a:rPr lang="en-US" sz="2800" dirty="0"/>
              <a:t>in the sample (1</a:t>
            </a:r>
            <a:r>
              <a:rPr lang="en-US" sz="2800" baseline="30000" dirty="0"/>
              <a:t>st</a:t>
            </a:r>
            <a:r>
              <a:rPr lang="en-US" sz="2800" dirty="0"/>
              <a:t> extracted factor).</a:t>
            </a:r>
          </a:p>
          <a:p>
            <a:pPr marL="274320" indent="-274320">
              <a:buNone/>
              <a:defRPr/>
            </a:pPr>
            <a:endParaRPr lang="en-US" sz="2200" dirty="0"/>
          </a:p>
          <a:p>
            <a:pPr marL="274638" lvl="1" indent="0" algn="justLow">
              <a:lnSpc>
                <a:spcPct val="150000"/>
              </a:lnSpc>
              <a:buNone/>
              <a:defRPr/>
            </a:pP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indent="-274320">
              <a:buNone/>
              <a:defRPr/>
            </a:pPr>
            <a:endParaRPr lang="en-US" sz="2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lvl="1" indent="0">
              <a:buNone/>
            </a:pPr>
            <a:endParaRPr lang="en-US" sz="2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sz="2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188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458200" cy="9906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Steps in Factor </a:t>
            </a:r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Analysis: Factor Extraction</a:t>
            </a:r>
            <a:endParaRPr lang="en-US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8229600" cy="4191000"/>
          </a:xfrm>
        </p:spPr>
        <p:txBody>
          <a:bodyPr>
            <a:noAutofit/>
          </a:bodyPr>
          <a:lstStyle/>
          <a:p>
            <a:pPr marL="274320" indent="-274320" algn="justLow">
              <a:buFont typeface="Wingdings 2"/>
              <a:buChar char=""/>
              <a:defRPr/>
            </a:pPr>
            <a:r>
              <a:rPr lang="en-US" sz="2600" dirty="0"/>
              <a:t>The </a:t>
            </a:r>
            <a:r>
              <a:rPr lang="en-US" sz="2600" b="1" dirty="0"/>
              <a:t>2</a:t>
            </a:r>
            <a:r>
              <a:rPr lang="en-US" sz="2600" b="1" baseline="30000" dirty="0"/>
              <a:t>nd</a:t>
            </a:r>
            <a:r>
              <a:rPr lang="en-US" sz="2600" b="1" dirty="0"/>
              <a:t> principle component </a:t>
            </a:r>
            <a:r>
              <a:rPr lang="en-US" sz="2600" dirty="0"/>
              <a:t>accounts for the next largest amount of variance and </a:t>
            </a:r>
            <a:r>
              <a:rPr lang="en-US" sz="2600" b="1" dirty="0"/>
              <a:t>is uncorrelated with the first </a:t>
            </a:r>
            <a:r>
              <a:rPr lang="en-US" sz="2600" dirty="0"/>
              <a:t>(</a:t>
            </a:r>
            <a:r>
              <a:rPr lang="en-US" sz="2600" b="1" dirty="0"/>
              <a:t>2</a:t>
            </a:r>
            <a:r>
              <a:rPr lang="en-US" sz="2600" b="1" baseline="30000" dirty="0"/>
              <a:t>nd</a:t>
            </a:r>
            <a:r>
              <a:rPr lang="en-US" sz="2600" b="1" dirty="0"/>
              <a:t> extracted factor</a:t>
            </a:r>
            <a:r>
              <a:rPr lang="en-US" sz="2600" dirty="0"/>
              <a:t>).</a:t>
            </a:r>
          </a:p>
          <a:p>
            <a:pPr marL="274320" indent="-274320" algn="justLow">
              <a:buNone/>
              <a:defRPr/>
            </a:pPr>
            <a:endParaRPr lang="en-US" sz="2600" dirty="0"/>
          </a:p>
          <a:p>
            <a:pPr marL="274320" indent="-274320" algn="justLow">
              <a:buFont typeface="Wingdings 2"/>
              <a:buChar char=""/>
              <a:defRPr/>
            </a:pPr>
            <a:r>
              <a:rPr lang="en-US" sz="2600" dirty="0"/>
              <a:t>Successive components explain progressively smaller portions of the total sample variance, and all are uncorrelated with each other</a:t>
            </a:r>
            <a:r>
              <a:rPr lang="en-US" sz="2600" dirty="0" smtClean="0"/>
              <a:t>.</a:t>
            </a:r>
            <a:endParaRPr lang="en-US" sz="2600" dirty="0"/>
          </a:p>
          <a:p>
            <a:pPr marL="274638" lvl="1" indent="0" algn="justLow">
              <a:lnSpc>
                <a:spcPct val="150000"/>
              </a:lnSpc>
              <a:buNone/>
              <a:defRPr/>
            </a:pP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indent="-274320">
              <a:buNone/>
              <a:defRPr/>
            </a:pPr>
            <a:endParaRPr lang="en-US" sz="2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lvl="1" indent="0">
              <a:buNone/>
            </a:pPr>
            <a:endParaRPr lang="en-US" sz="2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sz="2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94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458200" cy="9906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Steps in Factor </a:t>
            </a:r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Analysis: </a:t>
            </a:r>
            <a:r>
              <a:rPr lang="en-US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Factor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8229600" cy="4191000"/>
          </a:xfrm>
        </p:spPr>
        <p:txBody>
          <a:bodyPr>
            <a:noAutofit/>
          </a:bodyPr>
          <a:lstStyle/>
          <a:p>
            <a:pPr marL="274320" indent="-274320">
              <a:buFont typeface="Wingdings 2"/>
              <a:buChar char=""/>
              <a:defRPr/>
            </a:pPr>
            <a:endParaRPr lang="en-US" sz="2200" dirty="0"/>
          </a:p>
          <a:p>
            <a:pPr marL="274638" lvl="1" indent="0" algn="justLow">
              <a:lnSpc>
                <a:spcPct val="150000"/>
              </a:lnSpc>
              <a:buNone/>
              <a:defRPr/>
            </a:pP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indent="-274320">
              <a:buNone/>
              <a:defRPr/>
            </a:pPr>
            <a:endParaRPr lang="en-US" sz="2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lvl="1" indent="0">
              <a:buNone/>
            </a:pPr>
            <a:endParaRPr lang="en-US" sz="2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sz="2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152400" y="1524000"/>
            <a:ext cx="4194175" cy="43830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>
              <a:buFont typeface="Wingdings 2"/>
              <a:buChar char=""/>
              <a:defRPr/>
            </a:pPr>
            <a:r>
              <a:rPr lang="en-US" dirty="0" smtClean="0"/>
              <a:t>To decide on how many factors we need to represent the data, we use 2 statistical criteria:</a:t>
            </a:r>
          </a:p>
          <a:p>
            <a:pPr marL="548640" lvl="1" indent="-274320">
              <a:buFont typeface="Wingdings"/>
              <a:buChar char=""/>
              <a:defRPr/>
            </a:pPr>
            <a:r>
              <a:rPr lang="en-US" b="1" dirty="0" smtClean="0"/>
              <a:t>Eigen Values, </a:t>
            </a:r>
            <a:r>
              <a:rPr lang="en-US" dirty="0" smtClean="0"/>
              <a:t>and</a:t>
            </a:r>
          </a:p>
          <a:p>
            <a:pPr marL="548640" lvl="1" indent="-274320">
              <a:buFont typeface="Wingdings"/>
              <a:buChar char=""/>
              <a:defRPr/>
            </a:pPr>
            <a:r>
              <a:rPr lang="en-US" dirty="0" smtClean="0"/>
              <a:t>The</a:t>
            </a:r>
            <a:r>
              <a:rPr lang="en-US" b="1" dirty="0" smtClean="0"/>
              <a:t> Scree Plot</a:t>
            </a:r>
            <a:r>
              <a:rPr lang="en-US" dirty="0" smtClean="0"/>
              <a:t>.</a:t>
            </a:r>
          </a:p>
          <a:p>
            <a:pPr marL="274320" indent="-274320">
              <a:buFont typeface="Wingdings 2"/>
              <a:buNone/>
              <a:defRPr/>
            </a:pPr>
            <a:endParaRPr lang="en-US" dirty="0" smtClean="0"/>
          </a:p>
          <a:p>
            <a:pPr marL="274320" indent="-274320">
              <a:buFont typeface="Wingdings 2"/>
              <a:buChar char=""/>
              <a:defRPr/>
            </a:pPr>
            <a:r>
              <a:rPr lang="en-US" dirty="0" smtClean="0"/>
              <a:t>The determination of the number of factors is usually done by considering only factors with Eigen values greater than 1. </a:t>
            </a:r>
          </a:p>
          <a:p>
            <a:pPr marL="274320" indent="-274320">
              <a:buFont typeface="Wingdings 2"/>
              <a:buChar char=""/>
              <a:defRPr/>
            </a:pPr>
            <a:endParaRPr lang="en-US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25894"/>
              </p:ext>
            </p:extLst>
          </p:nvPr>
        </p:nvGraphicFramePr>
        <p:xfrm>
          <a:off x="4876800" y="2209800"/>
          <a:ext cx="3805240" cy="3784600"/>
        </p:xfrm>
        <a:graphic>
          <a:graphicData uri="http://schemas.openxmlformats.org/drawingml/2006/table">
            <a:tbl>
              <a:tblPr/>
              <a:tblGrid>
                <a:gridCol w="399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7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8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97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97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2293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Total Variance Explained</a:t>
                      </a:r>
                      <a:endParaRPr lang="en-US" sz="12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293"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Component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 anchor="b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Initial Eigenvalues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 anchor="b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Extraction Sums of Squared Loadings</a:t>
                      </a:r>
                      <a:endParaRPr lang="en-US" sz="12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2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Total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 anchor="b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% of Variance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Cumulative %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Total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% of Variance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Cumulative %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293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1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3.046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30.465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30.465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3.046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30.465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30.465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293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2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1.801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18.011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48.476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1.801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18.011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48.476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293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3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1.009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10.091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58.566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1.009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10.091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58.566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293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4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.934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9.336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67.902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293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5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.840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8.404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76.307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2293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6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.711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7.107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83.414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2293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7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.574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5.737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89.151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2293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8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.440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4.396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93.547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2293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9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.337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3.368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96.915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2293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10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.308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3.085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100.000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2293">
                <a:tc gridSpan="7"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Extraction Method: Principal Component Analysis.</a:t>
                      </a:r>
                      <a:endParaRPr lang="en-US" sz="12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Oval 12"/>
          <p:cNvSpPr>
            <a:spLocks noChangeArrowheads="1"/>
          </p:cNvSpPr>
          <p:nvPr/>
        </p:nvSpPr>
        <p:spPr bwMode="auto">
          <a:xfrm>
            <a:off x="5410200" y="3276600"/>
            <a:ext cx="533400" cy="838200"/>
          </a:xfrm>
          <a:prstGeom prst="ellips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7" name="Oval 12"/>
          <p:cNvSpPr>
            <a:spLocks noChangeArrowheads="1"/>
          </p:cNvSpPr>
          <p:nvPr/>
        </p:nvSpPr>
        <p:spPr bwMode="auto">
          <a:xfrm>
            <a:off x="5943600" y="3276600"/>
            <a:ext cx="533400" cy="838200"/>
          </a:xfrm>
          <a:prstGeom prst="ellips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" name="Oval 12"/>
          <p:cNvSpPr>
            <a:spLocks noChangeArrowheads="1"/>
          </p:cNvSpPr>
          <p:nvPr/>
        </p:nvSpPr>
        <p:spPr bwMode="auto">
          <a:xfrm>
            <a:off x="7086600" y="3200400"/>
            <a:ext cx="1143000" cy="914400"/>
          </a:xfrm>
          <a:prstGeom prst="ellips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9" name="Oval 12"/>
          <p:cNvSpPr>
            <a:spLocks noChangeArrowheads="1"/>
          </p:cNvSpPr>
          <p:nvPr/>
        </p:nvSpPr>
        <p:spPr bwMode="auto">
          <a:xfrm>
            <a:off x="5410200" y="2590800"/>
            <a:ext cx="1447800" cy="381000"/>
          </a:xfrm>
          <a:prstGeom prst="ellips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06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458200" cy="9906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Steps in Factor </a:t>
            </a:r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Analysis: </a:t>
            </a:r>
            <a:r>
              <a:rPr lang="en-US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Factor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8229600" cy="4191000"/>
          </a:xfrm>
        </p:spPr>
        <p:txBody>
          <a:bodyPr>
            <a:noAutofit/>
          </a:bodyPr>
          <a:lstStyle/>
          <a:p>
            <a:pPr marL="274320" indent="-274320">
              <a:buFont typeface="Wingdings 2"/>
              <a:buChar char=""/>
              <a:defRPr/>
            </a:pPr>
            <a:endParaRPr lang="en-US" sz="2200" dirty="0"/>
          </a:p>
          <a:p>
            <a:pPr marL="274638" lvl="1" indent="0" algn="justLow">
              <a:lnSpc>
                <a:spcPct val="150000"/>
              </a:lnSpc>
              <a:buNone/>
              <a:defRPr/>
            </a:pP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indent="-274320">
              <a:buNone/>
              <a:defRPr/>
            </a:pPr>
            <a:endParaRPr lang="en-US" sz="2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lvl="1" indent="0">
              <a:buNone/>
            </a:pPr>
            <a:endParaRPr lang="en-US" sz="2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sz="2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66989" y="1600200"/>
            <a:ext cx="4651375" cy="457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algn="justLow">
              <a:buFont typeface="Wingdings 2"/>
              <a:buChar char=""/>
              <a:defRPr/>
            </a:pPr>
            <a:r>
              <a:rPr lang="en-US" sz="2000" dirty="0" smtClean="0"/>
              <a:t>The examination of the </a:t>
            </a:r>
            <a:r>
              <a:rPr lang="en-US" sz="2000" b="1" dirty="0" smtClean="0"/>
              <a:t>Scree plot</a:t>
            </a:r>
            <a:r>
              <a:rPr lang="en-US" sz="2000" dirty="0" smtClean="0"/>
              <a:t> provides a visual of the total variance associated with each factor.  </a:t>
            </a:r>
          </a:p>
          <a:p>
            <a:pPr marL="274320" indent="-274320">
              <a:buFont typeface="Wingdings 2"/>
              <a:buChar char=""/>
              <a:defRPr/>
            </a:pPr>
            <a:endParaRPr lang="en-US" sz="2000" dirty="0" smtClean="0"/>
          </a:p>
          <a:p>
            <a:pPr marL="274320" indent="-274320">
              <a:buFont typeface="Wingdings 2"/>
              <a:buChar char=""/>
              <a:defRPr/>
            </a:pPr>
            <a:r>
              <a:rPr lang="en-US" sz="2000" dirty="0" smtClean="0"/>
              <a:t>The steep slope shows the large factors.</a:t>
            </a:r>
          </a:p>
          <a:p>
            <a:pPr marL="274320" indent="-274320">
              <a:buFont typeface="Wingdings 2"/>
              <a:buChar char=""/>
              <a:defRPr/>
            </a:pPr>
            <a:endParaRPr lang="en-US" sz="2000" dirty="0" smtClean="0"/>
          </a:p>
          <a:p>
            <a:pPr marL="274320" indent="-274320" algn="justLow">
              <a:buFont typeface="Wingdings 2"/>
              <a:buChar char=""/>
              <a:defRPr/>
            </a:pPr>
            <a:r>
              <a:rPr lang="en-US" sz="2000" dirty="0" smtClean="0"/>
              <a:t>In choosing the number of factors, in addition to the statistical criteria, one should make initial decisions based on conceptual and theoretical grounds.  </a:t>
            </a:r>
          </a:p>
          <a:p>
            <a:pPr marL="274320" indent="-274320">
              <a:buFont typeface="Wingdings 2"/>
              <a:buChar char=""/>
              <a:defRPr/>
            </a:pPr>
            <a:endParaRPr lang="en-US" sz="2000" dirty="0" smtClean="0"/>
          </a:p>
          <a:p>
            <a:pPr>
              <a:defRPr/>
            </a:pPr>
            <a:endParaRPr lang="en-US" sz="2000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944" y="1676400"/>
            <a:ext cx="4037013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val 12"/>
          <p:cNvSpPr>
            <a:spLocks noChangeArrowheads="1"/>
          </p:cNvSpPr>
          <p:nvPr/>
        </p:nvSpPr>
        <p:spPr bwMode="auto">
          <a:xfrm>
            <a:off x="6172200" y="4114800"/>
            <a:ext cx="152400" cy="228600"/>
          </a:xfrm>
          <a:prstGeom prst="ellips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3" name="Oval 12"/>
          <p:cNvSpPr>
            <a:spLocks noChangeArrowheads="1"/>
          </p:cNvSpPr>
          <p:nvPr/>
        </p:nvSpPr>
        <p:spPr bwMode="auto">
          <a:xfrm>
            <a:off x="5791200" y="3505200"/>
            <a:ext cx="152400" cy="228600"/>
          </a:xfrm>
          <a:prstGeom prst="ellips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4" name="Oval 12"/>
          <p:cNvSpPr>
            <a:spLocks noChangeArrowheads="1"/>
          </p:cNvSpPr>
          <p:nvPr/>
        </p:nvSpPr>
        <p:spPr bwMode="auto">
          <a:xfrm flipV="1">
            <a:off x="5486400" y="2743200"/>
            <a:ext cx="228600" cy="228600"/>
          </a:xfrm>
          <a:prstGeom prst="ellips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088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458200" cy="1219200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Steps in Factor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Analysis: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Factor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8229600" cy="4191000"/>
          </a:xfrm>
        </p:spPr>
        <p:txBody>
          <a:bodyPr>
            <a:noAutofit/>
          </a:bodyPr>
          <a:lstStyle/>
          <a:p>
            <a:pPr marL="274320" indent="-274320">
              <a:buFont typeface="Wingdings 2"/>
              <a:buChar char=""/>
              <a:defRPr/>
            </a:pPr>
            <a:endParaRPr lang="en-US" sz="2200" dirty="0"/>
          </a:p>
          <a:p>
            <a:pPr marL="274638" lvl="1" indent="0" algn="justLow">
              <a:lnSpc>
                <a:spcPct val="150000"/>
              </a:lnSpc>
              <a:buNone/>
              <a:defRPr/>
            </a:pP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indent="-274320">
              <a:buNone/>
              <a:defRPr/>
            </a:pPr>
            <a:endParaRPr lang="en-US" sz="2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lvl="1" indent="0">
              <a:buNone/>
            </a:pPr>
            <a:endParaRPr lang="en-US" sz="2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sz="2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90600" y="2514600"/>
            <a:ext cx="7010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7030A0"/>
                </a:solidFill>
              </a:rPr>
              <a:t>At this stage, the decision about the number of factors is not final.</a:t>
            </a:r>
          </a:p>
        </p:txBody>
      </p:sp>
    </p:spTree>
    <p:extLst>
      <p:ext uri="{BB962C8B-B14F-4D97-AF65-F5344CB8AC3E}">
        <p14:creationId xmlns:p14="http://schemas.microsoft.com/office/powerpoint/2010/main" val="3588393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458200" cy="9906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Steps in Factor </a:t>
            </a:r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Analysis: </a:t>
            </a:r>
            <a:r>
              <a:rPr lang="en-US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Factor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8229600" cy="4191000"/>
          </a:xfrm>
        </p:spPr>
        <p:txBody>
          <a:bodyPr>
            <a:noAutofit/>
          </a:bodyPr>
          <a:lstStyle/>
          <a:p>
            <a:pPr marL="274320" indent="-274320">
              <a:buFont typeface="Wingdings 2"/>
              <a:buChar char=""/>
              <a:defRPr/>
            </a:pPr>
            <a:endParaRPr lang="en-US" sz="2200" dirty="0"/>
          </a:p>
          <a:p>
            <a:pPr marL="274638" lvl="1" indent="0" algn="justLow">
              <a:lnSpc>
                <a:spcPct val="150000"/>
              </a:lnSpc>
              <a:buNone/>
              <a:defRPr/>
            </a:pP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indent="-274320">
              <a:buNone/>
              <a:defRPr/>
            </a:pPr>
            <a:endParaRPr lang="en-US" sz="2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lvl="1" indent="0">
              <a:buNone/>
            </a:pPr>
            <a:endParaRPr lang="en-US" sz="2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sz="2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675633"/>
              </p:ext>
            </p:extLst>
          </p:nvPr>
        </p:nvGraphicFramePr>
        <p:xfrm>
          <a:off x="685799" y="2057400"/>
          <a:ext cx="7574974" cy="4608723"/>
        </p:xfrm>
        <a:graphic>
          <a:graphicData uri="http://schemas.openxmlformats.org/drawingml/2006/table">
            <a:tbl>
              <a:tblPr/>
              <a:tblGrid>
                <a:gridCol w="493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0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0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0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0916"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Component </a:t>
                      </a:r>
                      <a:r>
                        <a:rPr lang="en-US" sz="900" b="1" dirty="0" err="1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Matrix</a:t>
                      </a:r>
                      <a:r>
                        <a:rPr lang="en-US" sz="900" b="1" baseline="30000" dirty="0" err="1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a</a:t>
                      </a:r>
                      <a:endParaRPr lang="en-US" sz="12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916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Component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 anchor="b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9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1</a:t>
                      </a:r>
                      <a:endParaRPr lang="en-US" sz="24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 anchor="b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2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3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916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I discussed my frustrations and feelings with person(s) in school</a:t>
                      </a:r>
                      <a:endParaRPr lang="en-US" sz="20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.771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-.271</a:t>
                      </a:r>
                      <a:endParaRPr lang="en-US" sz="24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.121</a:t>
                      </a:r>
                      <a:endParaRPr lang="en-US" sz="24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916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I tried to develop a step-by-step plan of action to remedy the problems</a:t>
                      </a:r>
                      <a:endParaRPr lang="en-US" sz="20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.545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.530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.264</a:t>
                      </a:r>
                      <a:endParaRPr lang="en-US" sz="24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916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I expressed my emotions to my family and close friends</a:t>
                      </a:r>
                      <a:endParaRPr lang="en-US" sz="20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.580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-.311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.265</a:t>
                      </a:r>
                      <a:endParaRPr lang="en-US" sz="24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899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I read, attended workshops, or sought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someother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 educational approach to correct the problem</a:t>
                      </a:r>
                      <a:endParaRPr lang="en-US" sz="20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.398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.356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-.374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916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I tried to be emotionally honest with my self about the problems</a:t>
                      </a:r>
                      <a:endParaRPr lang="en-US" sz="20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.436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.441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-.368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916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I sought advice from others on how I should solve the problems</a:t>
                      </a:r>
                      <a:endParaRPr lang="en-US" sz="20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.705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-.362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.117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916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I explored the emotions caused by the problems</a:t>
                      </a:r>
                      <a:endParaRPr lang="en-US" sz="20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.594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.184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-.537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916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I took direct action to try to correct the problems</a:t>
                      </a:r>
                      <a:endParaRPr lang="en-US" sz="20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.074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.640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.443</a:t>
                      </a:r>
                      <a:endParaRPr lang="en-US" sz="24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0916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I told someone I could trust about how I felt about the problems</a:t>
                      </a:r>
                      <a:endParaRPr lang="en-US" sz="20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.752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-.351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.081</a:t>
                      </a:r>
                      <a:endParaRPr lang="en-US" sz="24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0916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I put aside other activities so that I could work to solve the problems</a:t>
                      </a:r>
                      <a:endParaRPr lang="en-US" sz="20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.225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.576</a:t>
                      </a:r>
                      <a:endParaRPr lang="en-US" sz="24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.272</a:t>
                      </a:r>
                      <a:endParaRPr lang="en-US" sz="24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0916">
                <a:tc gridSpan="4"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Extraction Method: Principal Component Analysis.</a:t>
                      </a:r>
                      <a:endParaRPr lang="en-US" sz="12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0916">
                <a:tc gridSpan="4"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a. 3 components extracted.</a:t>
                      </a:r>
                      <a:endParaRPr lang="en-US" sz="12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9050" marR="1905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5" name="TextBox 6"/>
          <p:cNvSpPr txBox="1">
            <a:spLocks noChangeArrowheads="1"/>
          </p:cNvSpPr>
          <p:nvPr/>
        </p:nvSpPr>
        <p:spPr bwMode="auto">
          <a:xfrm>
            <a:off x="1364673" y="1447800"/>
            <a:ext cx="63246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 dirty="0"/>
              <a:t>Component Matrix  using Principle Component Analysis</a:t>
            </a:r>
          </a:p>
        </p:txBody>
      </p:sp>
    </p:spTree>
    <p:extLst>
      <p:ext uri="{BB962C8B-B14F-4D97-AF65-F5344CB8AC3E}">
        <p14:creationId xmlns:p14="http://schemas.microsoft.com/office/powerpoint/2010/main" val="426742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582" y="457200"/>
            <a:ext cx="8458200" cy="9906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Steps in Factor </a:t>
            </a:r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Analysis: </a:t>
            </a:r>
            <a:r>
              <a:rPr lang="en-US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Factor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8229600" cy="4191000"/>
          </a:xfrm>
        </p:spPr>
        <p:txBody>
          <a:bodyPr>
            <a:noAutofit/>
          </a:bodyPr>
          <a:lstStyle/>
          <a:p>
            <a:pPr marL="274320" indent="-274320">
              <a:buFont typeface="Wingdings 2"/>
              <a:buChar char=""/>
              <a:defRPr/>
            </a:pPr>
            <a:endParaRPr lang="en-US" sz="2200" dirty="0"/>
          </a:p>
          <a:p>
            <a:pPr marL="274638" lvl="1" indent="0" algn="justLow">
              <a:lnSpc>
                <a:spcPct val="150000"/>
              </a:lnSpc>
              <a:buNone/>
              <a:defRPr/>
            </a:pP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indent="-274320">
              <a:buNone/>
              <a:defRPr/>
            </a:pPr>
            <a:endParaRPr lang="en-US" sz="2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lvl="1" indent="0">
              <a:buNone/>
            </a:pPr>
            <a:endParaRPr lang="en-US" sz="2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sz="2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5582" y="1447800"/>
            <a:ext cx="8458200" cy="5186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Low">
              <a:buFont typeface="Wingdings 2"/>
              <a:buChar char=""/>
              <a:defRPr/>
            </a:pPr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800" b="1" baseline="300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Step: Factor rotation</a:t>
            </a:r>
            <a:r>
              <a:rPr lang="en-US" sz="28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Low">
              <a:defRPr/>
            </a:pPr>
            <a:endParaRPr lang="en-US" sz="28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indent="-274320" algn="justLow">
              <a:buFont typeface="Wingdings 2"/>
              <a:buChar char=""/>
              <a:defRPr/>
            </a:pP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In this step, factors are rotated. </a:t>
            </a:r>
          </a:p>
          <a:p>
            <a:pPr marL="274320" indent="-274320" algn="justLow">
              <a:defRPr/>
            </a:pPr>
            <a:endParaRPr lang="en-US" sz="2500" dirty="0">
              <a:latin typeface="Times New Roman" pitchFamily="18" charset="0"/>
              <a:cs typeface="Times New Roman" pitchFamily="18" charset="0"/>
            </a:endParaRPr>
          </a:p>
          <a:p>
            <a:pPr marL="274320" indent="-274320" algn="justLow">
              <a:buFont typeface="Wingdings 2"/>
              <a:buChar char=""/>
              <a:defRPr/>
            </a:pP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Un-rotated factors are typically not very interpretable (most factors are correlated with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many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variables).</a:t>
            </a:r>
          </a:p>
          <a:p>
            <a:pPr marL="274320" indent="-274320" algn="justLow">
              <a:defRPr/>
            </a:pPr>
            <a:endParaRPr lang="en-US" sz="2500" dirty="0">
              <a:latin typeface="Times New Roman" pitchFamily="18" charset="0"/>
              <a:cs typeface="Times New Roman" pitchFamily="18" charset="0"/>
            </a:endParaRPr>
          </a:p>
          <a:p>
            <a:pPr marL="274320" indent="-274320" algn="justLow">
              <a:buFont typeface="Wingdings 2"/>
              <a:buChar char=""/>
              <a:defRPr/>
            </a:pP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Factors are rotated to make them more meaningful and easier to interpret (each variable is associated with a minimal number of factors).</a:t>
            </a:r>
          </a:p>
          <a:p>
            <a:pPr marL="274320" indent="-274320" algn="justLow">
              <a:defRPr/>
            </a:pPr>
            <a:endParaRPr lang="en-US" sz="2500" dirty="0">
              <a:latin typeface="Times New Roman" pitchFamily="18" charset="0"/>
              <a:cs typeface="Times New Roman" pitchFamily="18" charset="0"/>
            </a:endParaRPr>
          </a:p>
          <a:p>
            <a:pPr marL="274320" indent="-274320" algn="justLow">
              <a:buFont typeface="Wingdings 2"/>
              <a:buChar char=""/>
              <a:defRPr/>
            </a:pP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Different rotation methods may result in the identification of somewhat different factors.</a:t>
            </a:r>
          </a:p>
        </p:txBody>
      </p:sp>
    </p:spTree>
    <p:extLst>
      <p:ext uri="{BB962C8B-B14F-4D97-AF65-F5344CB8AC3E}">
        <p14:creationId xmlns:p14="http://schemas.microsoft.com/office/powerpoint/2010/main" val="2908611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534400" cy="990600"/>
          </a:xfrm>
        </p:spPr>
        <p:txBody>
          <a:bodyPr>
            <a:noAutofit/>
          </a:bodyPr>
          <a:lstStyle/>
          <a:p>
            <a:pPr algn="justLow">
              <a:defRPr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Steps in Factor Analysis: Factor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504238" cy="4572000"/>
          </a:xfrm>
        </p:spPr>
        <p:txBody>
          <a:bodyPr>
            <a:normAutofit lnSpcReduction="10000"/>
          </a:bodyPr>
          <a:lstStyle/>
          <a:p>
            <a:pPr marL="274320" indent="-274320" algn="justLow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The most popular rotational method is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Varimax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rotations.</a:t>
            </a:r>
          </a:p>
          <a:p>
            <a:pPr marL="274320" indent="-274320" algn="justLow"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74320" indent="-274320" algn="justLow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Varimax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use orthogonal rotations yielding uncorrelated factors/components.</a:t>
            </a:r>
          </a:p>
          <a:p>
            <a:pPr marL="274320" indent="-274320" algn="justLow"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marL="274320" indent="-274320" algn="justLow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Varimax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attempts to minimize the number of variables that have high loadings on a factor. </a:t>
            </a:r>
            <a:r>
              <a:rPr lang="en-US" sz="32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This enhances the interpretability of the factors</a:t>
            </a:r>
            <a:r>
              <a:rPr lang="en-US" sz="28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74320" indent="-274320" algn="justLow"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endParaRPr lang="en-US" dirty="0" smtClean="0">
              <a:solidFill>
                <a:srgbClr val="7030A0"/>
              </a:solidFill>
            </a:endParaRPr>
          </a:p>
          <a:p>
            <a:pPr algn="justLow" eaLnBrk="1" hangingPunct="1">
              <a:defRPr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05330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534400" cy="75882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Steps in Factor Analysis: Factor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Rotation</a:t>
            </a:r>
            <a:endParaRPr lang="en-US" dirty="0"/>
          </a:p>
        </p:txBody>
      </p:sp>
      <p:sp>
        <p:nvSpPr>
          <p:cNvPr id="36867" name="Content Placeholder 2"/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>
            <a:noAutofit/>
          </a:bodyPr>
          <a:lstStyle/>
          <a:p>
            <a:pPr algn="justLow" eaLnBrk="1" hangingPunct="1"/>
            <a:r>
              <a:rPr lang="en-US" sz="2800" dirty="0" smtClean="0"/>
              <a:t>Other common rotational method used include </a:t>
            </a:r>
            <a:r>
              <a:rPr lang="en-US" sz="2800" b="1" dirty="0" smtClean="0"/>
              <a:t>Oblique rotations</a:t>
            </a:r>
            <a:r>
              <a:rPr lang="en-US" sz="2800" dirty="0" smtClean="0"/>
              <a:t> which yield correlated factors.</a:t>
            </a:r>
          </a:p>
          <a:p>
            <a:pPr eaLnBrk="1" hangingPunct="1">
              <a:buFont typeface="Wingdings 2" pitchFamily="18" charset="2"/>
              <a:buNone/>
            </a:pPr>
            <a:endParaRPr lang="en-US" sz="2800" dirty="0" smtClean="0"/>
          </a:p>
          <a:p>
            <a:pPr algn="justLow" eaLnBrk="1" hangingPunct="1"/>
            <a:r>
              <a:rPr lang="en-US" sz="2800" b="1" dirty="0" smtClean="0"/>
              <a:t>Oblique rotations </a:t>
            </a:r>
            <a:r>
              <a:rPr lang="en-US" sz="2800" dirty="0" smtClean="0"/>
              <a:t>are less frequently used because their results are more difficult to summarize.</a:t>
            </a:r>
          </a:p>
          <a:p>
            <a:pPr eaLnBrk="1" hangingPunct="1"/>
            <a:r>
              <a:rPr lang="en-US" sz="2800" dirty="0" smtClean="0"/>
              <a:t>Other rotational methods include:</a:t>
            </a:r>
          </a:p>
          <a:p>
            <a:pPr lvl="1" eaLnBrk="1" hangingPunct="1">
              <a:buFont typeface="Wingdings 2" pitchFamily="18" charset="2"/>
              <a:buChar char=""/>
            </a:pPr>
            <a:r>
              <a:rPr lang="en-US" sz="2800" dirty="0" err="1" smtClean="0"/>
              <a:t>Quartimax</a:t>
            </a:r>
            <a:r>
              <a:rPr lang="en-US" sz="2800" dirty="0" smtClean="0"/>
              <a:t> (Orthogonal)</a:t>
            </a:r>
          </a:p>
          <a:p>
            <a:pPr lvl="1" eaLnBrk="1" hangingPunct="1">
              <a:buFont typeface="Wingdings 2" pitchFamily="18" charset="2"/>
              <a:buChar char=""/>
            </a:pPr>
            <a:r>
              <a:rPr lang="en-US" sz="2800" dirty="0" err="1" smtClean="0"/>
              <a:t>Equamax</a:t>
            </a:r>
            <a:r>
              <a:rPr lang="en-US" sz="2800" dirty="0" smtClean="0"/>
              <a:t> (Orthogonal)</a:t>
            </a:r>
          </a:p>
          <a:p>
            <a:pPr lvl="1" eaLnBrk="1" hangingPunct="1">
              <a:buFont typeface="Wingdings 2" pitchFamily="18" charset="2"/>
              <a:buChar char=""/>
            </a:pPr>
            <a:r>
              <a:rPr lang="en-US" sz="2800" dirty="0" err="1" smtClean="0"/>
              <a:t>Promax</a:t>
            </a:r>
            <a:r>
              <a:rPr lang="en-US" sz="2800" dirty="0" smtClean="0"/>
              <a:t> (oblique)</a:t>
            </a:r>
          </a:p>
        </p:txBody>
      </p:sp>
    </p:spTree>
    <p:extLst>
      <p:ext uri="{BB962C8B-B14F-4D97-AF65-F5344CB8AC3E}">
        <p14:creationId xmlns:p14="http://schemas.microsoft.com/office/powerpoint/2010/main" val="693326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6575"/>
            <a:ext cx="8534400" cy="75882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Steps in Factor Analysis: Factor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Rotation</a:t>
            </a:r>
            <a:endParaRPr lang="en-US" dirty="0"/>
          </a:p>
        </p:txBody>
      </p:sp>
      <p:sp>
        <p:nvSpPr>
          <p:cNvPr id="37893" name="Content Placeholder 4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232775" cy="1444625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smtClean="0"/>
              <a:t>A factor is interpreted or named by examining the largest values linking the factor to the measured variables in the </a:t>
            </a:r>
            <a:r>
              <a:rPr lang="en-US" b="1" dirty="0" smtClean="0"/>
              <a:t>rotated factor matrix</a:t>
            </a:r>
            <a:r>
              <a:rPr lang="en-US" dirty="0" smtClean="0"/>
              <a:t>.</a:t>
            </a:r>
            <a:endParaRPr lang="en-US" sz="2000" dirty="0" smtClean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94494"/>
              </p:ext>
            </p:extLst>
          </p:nvPr>
        </p:nvGraphicFramePr>
        <p:xfrm>
          <a:off x="1143001" y="2667000"/>
          <a:ext cx="7086600" cy="3875889"/>
        </p:xfrm>
        <a:graphic>
          <a:graphicData uri="http://schemas.openxmlformats.org/drawingml/2006/table">
            <a:tbl>
              <a:tblPr/>
              <a:tblGrid>
                <a:gridCol w="4565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679"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Rotated Component </a:t>
                      </a:r>
                      <a:r>
                        <a:rPr lang="en-US" sz="900" b="1" dirty="0" err="1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Matrix</a:t>
                      </a:r>
                      <a:r>
                        <a:rPr lang="en-US" sz="900" b="1" baseline="30000" dirty="0" err="1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a</a:t>
                      </a:r>
                      <a:endParaRPr lang="en-US" sz="12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9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18306" marR="18306" marT="18306" marB="18306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Component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 anchor="b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1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 anchor="b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2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3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9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I discussed my frustrations and feelings with person(s) in school</a:t>
                      </a:r>
                      <a:endParaRPr lang="en-US" sz="12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.803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.186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.050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633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I tried to develop a step-by-step plan of action to remedy the problems</a:t>
                      </a:r>
                      <a:endParaRPr lang="en-US" sz="12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.270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.304</a:t>
                      </a:r>
                      <a:endParaRPr lang="en-US" sz="12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.694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9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I expressed my emotions to my family and close friends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.706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-.036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.059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633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I read, attended workshops, or sought someother educational approach to correct the problem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.050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.633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.145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79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I tried to be emotionally honest with my self about the problems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.042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.685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.222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479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I sought advice from others on how I should solve the problems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.792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.117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-.038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479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I explored the emotions caused by the problems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.248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.782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-.037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4479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I took direct action to try to correct the problems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-.120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-.023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.772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4479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I told someone I could trust about how I felt about the problems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.815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.172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-.040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1633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I put aside other activities so that I could work to solve the problems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-.014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.155</a:t>
                      </a:r>
                      <a:endParaRPr lang="en-US" sz="120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.657</a:t>
                      </a:r>
                      <a:endParaRPr lang="en-US" sz="1200" dirty="0">
                        <a:latin typeface="Times New Roman"/>
                        <a:ea typeface="Calibri"/>
                        <a:cs typeface="Arial"/>
                      </a:endParaRPr>
                    </a:p>
                  </a:txBody>
                  <a:tcPr marL="18306" marR="18306" marT="18306" marB="1830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5316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534400" cy="9144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rgbClr val="FF0000"/>
                </a:solidFill>
              </a:rPr>
              <a:t>Steps in Factor Analysis: Making Final Decisions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8917" name="Content Placeholder 4"/>
          <p:cNvSpPr>
            <a:spLocks noGrp="1"/>
          </p:cNvSpPr>
          <p:nvPr>
            <p:ph sz="quarter" idx="1"/>
          </p:nvPr>
        </p:nvSpPr>
        <p:spPr>
          <a:xfrm>
            <a:off x="304800" y="1752600"/>
            <a:ext cx="8504238" cy="4572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3200" b="1" u="sng" dirty="0" smtClean="0">
                <a:solidFill>
                  <a:srgbClr val="7030A0"/>
                </a:solidFill>
              </a:rPr>
              <a:t>4</a:t>
            </a:r>
            <a:r>
              <a:rPr lang="en-US" sz="3200" b="1" u="sng" baseline="30000" dirty="0" smtClean="0">
                <a:solidFill>
                  <a:srgbClr val="7030A0"/>
                </a:solidFill>
              </a:rPr>
              <a:t>th</a:t>
            </a:r>
            <a:r>
              <a:rPr lang="en-US" sz="3200" b="1" u="sng" dirty="0" smtClean="0">
                <a:solidFill>
                  <a:srgbClr val="7030A0"/>
                </a:solidFill>
              </a:rPr>
              <a:t> Step</a:t>
            </a:r>
            <a:r>
              <a:rPr lang="en-US" sz="3200" b="1" dirty="0" smtClean="0">
                <a:solidFill>
                  <a:srgbClr val="7030A0"/>
                </a:solidFill>
              </a:rPr>
              <a:t>: Making final decisions</a:t>
            </a:r>
          </a:p>
          <a:p>
            <a:pPr lvl="1" algn="justLow" eaLnBrk="1" hangingPunct="1">
              <a:tabLst>
                <a:tab pos="1939925" algn="l"/>
              </a:tabLst>
            </a:pPr>
            <a:r>
              <a:rPr lang="en-US" sz="2800" dirty="0" smtClean="0"/>
              <a:t>The final decision about the number of factors to choose is the number of factors for the rotated solution that is </a:t>
            </a:r>
            <a:r>
              <a:rPr lang="en-US" sz="2800" b="1" dirty="0" smtClean="0"/>
              <a:t>most interpretable</a:t>
            </a:r>
            <a:r>
              <a:rPr lang="en-US" sz="2800" dirty="0" smtClean="0"/>
              <a:t>.</a:t>
            </a:r>
          </a:p>
          <a:p>
            <a:pPr lvl="1" eaLnBrk="1" hangingPunct="1"/>
            <a:r>
              <a:rPr lang="en-US" sz="2800" dirty="0" smtClean="0"/>
              <a:t>To identify factors, group variables that have large loadings for the same factor.</a:t>
            </a:r>
          </a:p>
          <a:p>
            <a:pPr lvl="1" eaLnBrk="1" hangingPunct="1"/>
            <a:r>
              <a:rPr lang="en-US" sz="2800" dirty="0" smtClean="0"/>
              <a:t>Plots of loadings provide a visual for variable clusters.</a:t>
            </a:r>
          </a:p>
          <a:p>
            <a:pPr lvl="1" eaLnBrk="1" hangingPunct="1"/>
            <a:r>
              <a:rPr lang="en-US" sz="2800" dirty="0" smtClean="0"/>
              <a:t>Interpret factors according to the meaning of the variables.</a:t>
            </a:r>
          </a:p>
          <a:p>
            <a:pPr lvl="1" eaLnBrk="1" hangingPunct="1">
              <a:buFont typeface="Wingdings" pitchFamily="2" charset="2"/>
              <a:buNone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95053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534400" cy="9144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rgbClr val="FF0000"/>
                </a:solidFill>
              </a:rPr>
              <a:t>Steps in Factor Analysis: Making Final Decisions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8917" name="Content Placeholder 4"/>
          <p:cNvSpPr>
            <a:spLocks noGrp="1"/>
          </p:cNvSpPr>
          <p:nvPr>
            <p:ph sz="quarter" idx="1"/>
          </p:nvPr>
        </p:nvSpPr>
        <p:spPr>
          <a:xfrm>
            <a:off x="304800" y="1752600"/>
            <a:ext cx="8504238" cy="4572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7030A0"/>
                </a:solidFill>
              </a:rPr>
              <a:t>This decision should be guided by:</a:t>
            </a:r>
          </a:p>
          <a:p>
            <a:pPr lvl="1" algn="justLow"/>
            <a:r>
              <a:rPr lang="en-US" sz="3200" dirty="0" smtClean="0"/>
              <a:t>A priori conceptual beliefs about the number of factors from past research or theory</a:t>
            </a:r>
            <a:endParaRPr lang="en-US" sz="3200" dirty="0"/>
          </a:p>
          <a:p>
            <a:pPr lvl="1"/>
            <a:r>
              <a:rPr lang="en-US" sz="3200" dirty="0"/>
              <a:t>Eigen values computed in step 2.</a:t>
            </a:r>
          </a:p>
          <a:p>
            <a:pPr lvl="1" algn="justLow"/>
            <a:r>
              <a:rPr lang="en-US" sz="3200" dirty="0"/>
              <a:t>The relative interpretability of rotated solutions computed in step 3.</a:t>
            </a:r>
            <a:endParaRPr lang="en-US" sz="2800" dirty="0"/>
          </a:p>
          <a:p>
            <a:pPr lvl="1" eaLnBrk="1" hangingPunct="1">
              <a:buFont typeface="Wingdings" pitchFamily="2" charset="2"/>
              <a:buNone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04231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smtClean="0">
                <a:solidFill>
                  <a:srgbClr val="FF0000"/>
                </a:solidFill>
              </a:rPr>
              <a:t>Assumptions Underlying Factor Analysis</a:t>
            </a:r>
          </a:p>
        </p:txBody>
      </p:sp>
      <p:sp>
        <p:nvSpPr>
          <p:cNvPr id="39941" name="Content Placeholder 4"/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>
            <a:noAutofit/>
          </a:bodyPr>
          <a:lstStyle/>
          <a:p>
            <a:pPr algn="justLow" eaLnBrk="1" hangingPunct="1"/>
            <a:r>
              <a:rPr lang="en-US" sz="2800" dirty="0" smtClean="0">
                <a:solidFill>
                  <a:srgbClr val="7030A0"/>
                </a:solidFill>
              </a:rPr>
              <a:t>Assumption underlying factor analysis include.</a:t>
            </a:r>
          </a:p>
          <a:p>
            <a:pPr lvl="1" algn="justLow" eaLnBrk="1" hangingPunct="1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measured variables are linearly related to the factors + errors.</a:t>
            </a:r>
          </a:p>
          <a:p>
            <a:pPr lvl="2" algn="justLow" eaLnBrk="1" hangingPunct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assumption is likely to be violated if items limited response scales (two-point response scale like True/False, Right/Wrong items).</a:t>
            </a:r>
          </a:p>
          <a:p>
            <a:pPr lvl="1" algn="justLow" eaLnBrk="1" hangingPunct="1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data should have a bi-</a:t>
            </a:r>
            <a:r>
              <a:rPr lang="en-US" sz="24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variate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normal distribution for each pair of variables.</a:t>
            </a:r>
          </a:p>
          <a:p>
            <a:pPr lvl="1" algn="justLow" eaLnBrk="1" hangingPunct="1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Observations are independent.</a:t>
            </a:r>
          </a:p>
          <a:p>
            <a:pPr lvl="1" algn="justLow" eaLnBrk="1" hangingPunct="1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factor analysis model assumes that variables are determined by common factors and unique factors. All unique factors are assumed to be </a:t>
            </a:r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uncorrelated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with each other and with the common factors.</a:t>
            </a:r>
          </a:p>
          <a:p>
            <a:pPr lvl="2" algn="justLow" eaLnBrk="1" hangingPunct="1"/>
            <a:endParaRPr lang="en-US" sz="20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180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Obtaining a Factor Analysis</a:t>
            </a:r>
            <a:endParaRPr lang="en-US" dirty="0"/>
          </a:p>
        </p:txBody>
      </p:sp>
      <p:sp>
        <p:nvSpPr>
          <p:cNvPr id="40963" name="Content Placeholder 2"/>
          <p:cNvSpPr>
            <a:spLocks noGrp="1"/>
          </p:cNvSpPr>
          <p:nvPr>
            <p:ph sz="quarter" idx="1"/>
          </p:nvPr>
        </p:nvSpPr>
        <p:spPr>
          <a:xfrm>
            <a:off x="6781800" y="1527175"/>
            <a:ext cx="2024063" cy="4572000"/>
          </a:xfrm>
        </p:spPr>
        <p:txBody>
          <a:bodyPr/>
          <a:lstStyle/>
          <a:p>
            <a:r>
              <a:rPr lang="en-US" dirty="0" smtClean="0"/>
              <a:t>Click:</a:t>
            </a:r>
          </a:p>
          <a:p>
            <a:pPr lvl="1"/>
            <a:r>
              <a:rPr lang="en-US" dirty="0" smtClean="0"/>
              <a:t>Analyze and select</a:t>
            </a:r>
          </a:p>
          <a:p>
            <a:pPr lvl="2"/>
            <a:r>
              <a:rPr lang="en-US" dirty="0" smtClean="0"/>
              <a:t>Dimension Reduction</a:t>
            </a:r>
          </a:p>
          <a:p>
            <a:pPr lvl="2"/>
            <a:r>
              <a:rPr lang="en-US" dirty="0" smtClean="0"/>
              <a:t>Factor</a:t>
            </a:r>
          </a:p>
          <a:p>
            <a:pPr lvl="2"/>
            <a:r>
              <a:rPr lang="en-US" dirty="0" smtClean="0"/>
              <a:t>A factor Analysis Box will </a:t>
            </a:r>
            <a:r>
              <a:rPr lang="en-US" dirty="0"/>
              <a:t>appear</a:t>
            </a:r>
          </a:p>
        </p:txBody>
      </p:sp>
      <p:pic>
        <p:nvPicPr>
          <p:cNvPr id="409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6451600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255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Obtaining a Factor Analysis</a:t>
            </a:r>
            <a:endParaRPr lang="en-US" dirty="0"/>
          </a:p>
        </p:txBody>
      </p:sp>
      <p:sp>
        <p:nvSpPr>
          <p:cNvPr id="41987" name="Content Placeholder 2"/>
          <p:cNvSpPr>
            <a:spLocks noGrp="1"/>
          </p:cNvSpPr>
          <p:nvPr>
            <p:ph sz="quarter" idx="1"/>
          </p:nvPr>
        </p:nvSpPr>
        <p:spPr>
          <a:xfrm>
            <a:off x="7086600" y="1527175"/>
            <a:ext cx="1719263" cy="4572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Move variables/scale items to Variable box </a:t>
            </a:r>
          </a:p>
        </p:txBody>
      </p:sp>
      <p:pic>
        <p:nvPicPr>
          <p:cNvPr id="419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54727"/>
            <a:ext cx="6400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5313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Obtaining a Factor Analysis</a:t>
            </a:r>
            <a:endParaRPr lang="en-US" dirty="0"/>
          </a:p>
        </p:txBody>
      </p:sp>
      <p:sp>
        <p:nvSpPr>
          <p:cNvPr id="43011" name="Content Placeholder 2"/>
          <p:cNvSpPr>
            <a:spLocks noGrp="1"/>
          </p:cNvSpPr>
          <p:nvPr>
            <p:ph sz="quarter" idx="1"/>
          </p:nvPr>
        </p:nvSpPr>
        <p:spPr>
          <a:xfrm>
            <a:off x="6781800" y="1527175"/>
            <a:ext cx="2024063" cy="4572000"/>
          </a:xfrm>
        </p:spPr>
        <p:txBody>
          <a:bodyPr/>
          <a:lstStyle/>
          <a:p>
            <a:r>
              <a:rPr lang="en-US" smtClean="0"/>
              <a:t>Factor extraction</a:t>
            </a:r>
          </a:p>
          <a:p>
            <a:r>
              <a:rPr lang="en-US" smtClean="0"/>
              <a:t>When variables are in variable box, select:</a:t>
            </a:r>
          </a:p>
          <a:p>
            <a:pPr lvl="1"/>
            <a:r>
              <a:rPr lang="en-US" smtClean="0"/>
              <a:t>Extraction</a:t>
            </a:r>
          </a:p>
        </p:txBody>
      </p:sp>
      <p:pic>
        <p:nvPicPr>
          <p:cNvPr id="4301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0"/>
            <a:ext cx="67056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2519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Obtaining a Factor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705600" y="1527175"/>
            <a:ext cx="2100263" cy="45720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000" dirty="0" smtClean="0"/>
              <a:t>When the factor extraction Box appears, select:</a:t>
            </a:r>
          </a:p>
          <a:p>
            <a:pPr>
              <a:defRPr/>
            </a:pPr>
            <a:r>
              <a:rPr lang="en-US" sz="2000" dirty="0" smtClean="0"/>
              <a:t>Scree Plot</a:t>
            </a:r>
          </a:p>
          <a:p>
            <a:pPr>
              <a:defRPr/>
            </a:pPr>
            <a:r>
              <a:rPr lang="en-US" sz="2000" dirty="0" smtClean="0"/>
              <a:t>keep all default selections including:</a:t>
            </a:r>
          </a:p>
          <a:p>
            <a:pPr lvl="1">
              <a:defRPr/>
            </a:pPr>
            <a:r>
              <a:rPr lang="en-US" sz="1400" dirty="0" smtClean="0"/>
              <a:t>Principle component Analysis</a:t>
            </a:r>
          </a:p>
          <a:p>
            <a:pPr lvl="1">
              <a:defRPr/>
            </a:pPr>
            <a:r>
              <a:rPr lang="en-US" sz="1400" dirty="0" smtClean="0"/>
              <a:t>Based on Eigen Value of 1, and</a:t>
            </a:r>
            <a:endParaRPr lang="en-US" dirty="0" smtClean="0"/>
          </a:p>
          <a:p>
            <a:pPr lvl="1">
              <a:defRPr/>
            </a:pPr>
            <a:r>
              <a:rPr lang="en-US" sz="1600" dirty="0" smtClean="0"/>
              <a:t>Un-rotated factor solution</a:t>
            </a:r>
            <a:endParaRPr lang="en-US" sz="1100" dirty="0" smtClean="0"/>
          </a:p>
        </p:txBody>
      </p:sp>
      <p:pic>
        <p:nvPicPr>
          <p:cNvPr id="440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0"/>
            <a:ext cx="6400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2084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Obtaining a Factor Analysis</a:t>
            </a:r>
            <a:endParaRPr lang="en-US" dirty="0"/>
          </a:p>
        </p:txBody>
      </p:sp>
      <p:sp>
        <p:nvSpPr>
          <p:cNvPr id="45059" name="Content Placeholder 2"/>
          <p:cNvSpPr>
            <a:spLocks noGrp="1"/>
          </p:cNvSpPr>
          <p:nvPr>
            <p:ph sz="quarter" idx="1"/>
          </p:nvPr>
        </p:nvSpPr>
        <p:spPr>
          <a:xfrm>
            <a:off x="7239000" y="1527175"/>
            <a:ext cx="1566863" cy="4572000"/>
          </a:xfrm>
        </p:spPr>
        <p:txBody>
          <a:bodyPr/>
          <a:lstStyle/>
          <a:p>
            <a:r>
              <a:rPr lang="en-US" sz="1800" smtClean="0"/>
              <a:t>During factor extraction keep factor rotation default of:</a:t>
            </a:r>
          </a:p>
          <a:p>
            <a:pPr lvl="1"/>
            <a:r>
              <a:rPr lang="en-US" sz="1300" smtClean="0"/>
              <a:t>None</a:t>
            </a:r>
          </a:p>
          <a:p>
            <a:pPr lvl="1"/>
            <a:r>
              <a:rPr lang="en-US" sz="1300" smtClean="0"/>
              <a:t>Press continue</a:t>
            </a:r>
          </a:p>
        </p:txBody>
      </p:sp>
      <p:pic>
        <p:nvPicPr>
          <p:cNvPr id="4506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67056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725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Obtaining a Factor Analysis</a:t>
            </a:r>
            <a:endParaRPr lang="en-US" dirty="0"/>
          </a:p>
        </p:txBody>
      </p:sp>
      <p:sp>
        <p:nvSpPr>
          <p:cNvPr id="46083" name="Content Placeholder 2"/>
          <p:cNvSpPr>
            <a:spLocks noGrp="1"/>
          </p:cNvSpPr>
          <p:nvPr>
            <p:ph sz="quarter" idx="1"/>
          </p:nvPr>
        </p:nvSpPr>
        <p:spPr>
          <a:xfrm>
            <a:off x="6781800" y="1527175"/>
            <a:ext cx="2024063" cy="4572000"/>
          </a:xfrm>
        </p:spPr>
        <p:txBody>
          <a:bodyPr/>
          <a:lstStyle/>
          <a:p>
            <a:r>
              <a:rPr lang="en-US" sz="1400" smtClean="0"/>
              <a:t>During Factor Rotation:</a:t>
            </a:r>
          </a:p>
          <a:p>
            <a:r>
              <a:rPr lang="en-US" sz="1400" smtClean="0"/>
              <a:t>Decide on the number of factors based on actor extraction phase and enter the desired number of factors by choosing:</a:t>
            </a:r>
          </a:p>
          <a:p>
            <a:r>
              <a:rPr lang="en-US" sz="1400" smtClean="0"/>
              <a:t>Fixed number of factors and entering the desired number of factors to extract.</a:t>
            </a:r>
          </a:p>
          <a:p>
            <a:r>
              <a:rPr lang="en-US" sz="1400" smtClean="0"/>
              <a:t>Under Rotation Choose Varimax</a:t>
            </a:r>
          </a:p>
          <a:p>
            <a:r>
              <a:rPr lang="en-US" sz="1400" smtClean="0"/>
              <a:t>Press continue</a:t>
            </a:r>
          </a:p>
          <a:p>
            <a:r>
              <a:rPr lang="en-US" sz="1400" smtClean="0"/>
              <a:t>Then OK</a:t>
            </a:r>
          </a:p>
        </p:txBody>
      </p:sp>
      <p:pic>
        <p:nvPicPr>
          <p:cNvPr id="460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71600"/>
            <a:ext cx="67056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808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Principal Components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methods – Mathematical View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941" name="Content Placeholder 4"/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>
            <a:noAutofit/>
          </a:bodyPr>
          <a:lstStyle/>
          <a:p>
            <a:pPr algn="justLow" eaLnBrk="1" hangingPunct="1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Low" eaLnBrk="1" hangingPunct="1"/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Principal Components Method</a:t>
            </a:r>
          </a:p>
          <a:p>
            <a:pPr marL="0" indent="0" algn="justLow" eaLnBrk="1" hangingPunct="1">
              <a:buNone/>
            </a:pPr>
            <a:endParaRPr lang="en-US" b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 eaLnBrk="1" hangingPunct="1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First Component can be expressed as a linear combination in responses variables.</a:t>
            </a:r>
          </a:p>
          <a:p>
            <a:pPr marL="0" indent="0" algn="justLow" eaLnBrk="1" hangingPunct="1">
              <a:buNone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Assume we have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of response variables so , the first component will be :</a:t>
            </a:r>
          </a:p>
          <a:p>
            <a:pPr marL="0" indent="0" algn="justLow" eaLnBrk="1" hangingPunct="1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Low" eaLnBrk="1" hangingPunct="1"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2" algn="justLow" eaLnBrk="1" hangingPunct="1"/>
            <a:endParaRPr lang="en-US" sz="2000" dirty="0" smtClean="0">
              <a:solidFill>
                <a:srgbClr val="FF0000"/>
              </a:solidFill>
            </a:endParaRPr>
          </a:p>
          <a:p>
            <a:pPr marL="290513" lvl="2" indent="-55563" algn="justLow" eaLnBrk="1" hangingPunct="1"/>
            <a:r>
              <a:rPr lang="en-US" sz="2400" b="1" dirty="0" smtClean="0">
                <a:solidFill>
                  <a:srgbClr val="FF0000"/>
                </a:solidFill>
              </a:rPr>
              <a:t>Where </a:t>
            </a:r>
            <a:r>
              <a:rPr lang="en-US" sz="2400" b="1" dirty="0" err="1" smtClean="0">
                <a:solidFill>
                  <a:srgbClr val="FF0000"/>
                </a:solidFill>
              </a:rPr>
              <a:t>aij</a:t>
            </a:r>
            <a:r>
              <a:rPr lang="en-US" sz="2400" b="1" dirty="0" smtClean="0">
                <a:solidFill>
                  <a:srgbClr val="FF0000"/>
                </a:solidFill>
              </a:rPr>
              <a:t> are loadings of response variables with the first factor.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572000"/>
            <a:ext cx="625030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277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Principal Components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methods – Mathematical View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941" name="Content Placeholder 4"/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>
            <a:noAutofit/>
          </a:bodyPr>
          <a:lstStyle/>
          <a:p>
            <a:pPr algn="justLow" eaLnBrk="1" hangingPunct="1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Low" eaLnBrk="1" hangingPunct="1"/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Principal Components Method</a:t>
            </a:r>
          </a:p>
          <a:p>
            <a:pPr marL="0" indent="0" algn="justLow" eaLnBrk="1" hangingPunct="1">
              <a:buNone/>
            </a:pPr>
            <a:endParaRPr lang="en-US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 eaLnBrk="1" hangingPunct="1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 first component will be :</a:t>
            </a:r>
          </a:p>
          <a:p>
            <a:pPr marL="0" indent="0" algn="justLow" eaLnBrk="1" hangingPunct="1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Low" eaLnBrk="1" hangingPunct="1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Low" eaLnBrk="1" hangingPunct="1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Low" eaLnBrk="1" hangingPunct="1"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 we mentioned before , the first component has largest Variation. </a:t>
            </a:r>
          </a:p>
          <a:p>
            <a:pPr marL="0" indent="0" algn="justLow" eaLnBrk="1" hangingPunct="1">
              <a:buNone/>
            </a:pPr>
            <a:endParaRPr lang="en-US" sz="24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Low" eaLnBrk="1" hangingPunct="1">
              <a:buNone/>
            </a:pPr>
            <a:endParaRPr lang="en-US" sz="24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733800"/>
            <a:ext cx="6705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5327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941" name="Content Placeholder 4"/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>
            <a:noAutofit/>
          </a:bodyPr>
          <a:lstStyle/>
          <a:p>
            <a:pPr algn="justLow" eaLnBrk="1" hangingPunct="1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Low"/>
            <a:r>
              <a:rPr lang="en-US" sz="32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Go to SPSS …</a:t>
            </a:r>
          </a:p>
        </p:txBody>
      </p:sp>
    </p:spTree>
    <p:extLst>
      <p:ext uri="{BB962C8B-B14F-4D97-AF65-F5344CB8AC3E}">
        <p14:creationId xmlns:p14="http://schemas.microsoft.com/office/powerpoint/2010/main" val="2086817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28800"/>
            <a:ext cx="794512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3758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05000"/>
            <a:ext cx="746760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1639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We note that </a:t>
            </a:r>
            <a:r>
              <a:rPr lang="en-US" b="1" dirty="0" smtClean="0"/>
              <a:t>KMO </a:t>
            </a:r>
            <a:r>
              <a:rPr lang="en-US" dirty="0" smtClean="0"/>
              <a:t>measure is </a:t>
            </a:r>
            <a:r>
              <a:rPr lang="en-US" b="1" dirty="0" smtClean="0"/>
              <a:t>0.649 </a:t>
            </a:r>
            <a:r>
              <a:rPr lang="en-US" dirty="0" smtClean="0"/>
              <a:t>and it is adequate.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We note that we can reject </a:t>
            </a:r>
            <a:r>
              <a:rPr lang="en-US" b="1" dirty="0" smtClean="0"/>
              <a:t>Bartlett's Test </a:t>
            </a:r>
            <a:r>
              <a:rPr lang="en-US" b="1" dirty="0"/>
              <a:t>of </a:t>
            </a:r>
            <a:r>
              <a:rPr lang="en-US" b="1" dirty="0" err="1" smtClean="0"/>
              <a:t>Sphericity</a:t>
            </a:r>
            <a:r>
              <a:rPr lang="en-US" b="1" dirty="0" smtClean="0"/>
              <a:t> </a:t>
            </a:r>
          </a:p>
          <a:p>
            <a:pPr>
              <a:lnSpc>
                <a:spcPct val="150000"/>
              </a:lnSpc>
            </a:pPr>
            <a:endParaRPr lang="en-US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b="1" dirty="0" smtClean="0">
                <a:solidFill>
                  <a:srgbClr val="7030A0"/>
                </a:solidFill>
              </a:rPr>
              <a:t>H0</a:t>
            </a:r>
            <a:r>
              <a:rPr lang="en-US" b="1" dirty="0" smtClean="0"/>
              <a:t> : </a:t>
            </a:r>
            <a:r>
              <a:rPr lang="en-US" b="1" dirty="0" smtClean="0">
                <a:solidFill>
                  <a:srgbClr val="FF0000"/>
                </a:solidFill>
              </a:rPr>
              <a:t>Correlation matrix is an identity matrix</a:t>
            </a:r>
            <a:r>
              <a:rPr lang="en-US" b="1" dirty="0" smtClean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 smtClean="0">
                <a:solidFill>
                  <a:srgbClr val="7030A0"/>
                </a:solidFill>
              </a:rPr>
              <a:t>H1</a:t>
            </a:r>
            <a:r>
              <a:rPr lang="en-US" b="1" dirty="0" smtClean="0"/>
              <a:t> : </a:t>
            </a:r>
            <a:r>
              <a:rPr lang="en-US" b="1" dirty="0" smtClean="0">
                <a:solidFill>
                  <a:srgbClr val="FF0000"/>
                </a:solidFill>
              </a:rPr>
              <a:t>H0 is not correct</a:t>
            </a:r>
            <a:r>
              <a:rPr lang="en-US" b="1" dirty="0" smtClean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26856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057400"/>
            <a:ext cx="7543800" cy="3124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099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previous table express the </a:t>
            </a:r>
            <a:r>
              <a:rPr lang="en-US" b="1" dirty="0" smtClean="0">
                <a:solidFill>
                  <a:srgbClr val="FF0000"/>
                </a:solidFill>
              </a:rPr>
              <a:t>Communalities.</a:t>
            </a:r>
          </a:p>
          <a:p>
            <a:pPr algn="justLow"/>
            <a:r>
              <a:rPr lang="en-US" b="1" dirty="0" smtClean="0">
                <a:solidFill>
                  <a:srgbClr val="FF0000"/>
                </a:solidFill>
              </a:rPr>
              <a:t>Extracted Communalities </a:t>
            </a:r>
            <a:r>
              <a:rPr lang="en-US" dirty="0" smtClean="0"/>
              <a:t>for each variable were explained in the last right column. </a:t>
            </a:r>
          </a:p>
          <a:p>
            <a:pPr algn="justLow"/>
            <a:r>
              <a:rPr lang="en-US" b="1" dirty="0" smtClean="0">
                <a:solidFill>
                  <a:srgbClr val="FF0000"/>
                </a:solidFill>
              </a:rPr>
              <a:t>Communality is between (0-1) .</a:t>
            </a:r>
            <a:endParaRPr lang="en-US" dirty="0">
              <a:solidFill>
                <a:srgbClr val="FF0000"/>
              </a:solidFill>
            </a:endParaRPr>
          </a:p>
          <a:p>
            <a:pPr algn="justLow"/>
            <a:r>
              <a:rPr lang="en-US" b="1" dirty="0" smtClean="0">
                <a:solidFill>
                  <a:srgbClr val="7030A0"/>
                </a:solidFill>
              </a:rPr>
              <a:t>Ex: </a:t>
            </a:r>
            <a:r>
              <a:rPr lang="en-US" dirty="0" smtClean="0">
                <a:solidFill>
                  <a:srgbClr val="7030A0"/>
                </a:solidFill>
              </a:rPr>
              <a:t>the communality for </a:t>
            </a:r>
            <a:r>
              <a:rPr lang="en-US" b="1" dirty="0" smtClean="0">
                <a:solidFill>
                  <a:srgbClr val="7030A0"/>
                </a:solidFill>
              </a:rPr>
              <a:t>GDB </a:t>
            </a:r>
            <a:r>
              <a:rPr lang="en-US" dirty="0" smtClean="0">
                <a:solidFill>
                  <a:srgbClr val="7030A0"/>
                </a:solidFill>
              </a:rPr>
              <a:t>refer that 0.797 of variance in </a:t>
            </a:r>
            <a:r>
              <a:rPr lang="en-US" b="1" dirty="0" smtClean="0">
                <a:solidFill>
                  <a:srgbClr val="7030A0"/>
                </a:solidFill>
              </a:rPr>
              <a:t>GDB </a:t>
            </a:r>
            <a:r>
              <a:rPr lang="en-US" dirty="0" smtClean="0">
                <a:solidFill>
                  <a:srgbClr val="7030A0"/>
                </a:solidFill>
              </a:rPr>
              <a:t>was explained by the factor extracted.</a:t>
            </a:r>
          </a:p>
          <a:p>
            <a:pPr algn="justLow"/>
            <a:endParaRPr lang="en-US" dirty="0">
              <a:solidFill>
                <a:srgbClr val="7030A0"/>
              </a:solidFill>
            </a:endParaRPr>
          </a:p>
          <a:p>
            <a:pPr algn="justLow"/>
            <a:r>
              <a:rPr lang="en-US" b="1" dirty="0" smtClean="0"/>
              <a:t>In</a:t>
            </a:r>
            <a:r>
              <a:rPr lang="en-US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7030A0"/>
                </a:solidFill>
              </a:rPr>
              <a:t>Component matrix ((0.477)^2 + (0.754)^2 = 0.797)</a:t>
            </a:r>
          </a:p>
          <a:p>
            <a:pPr algn="justLow"/>
            <a:endParaRPr lang="en-US" b="1" dirty="0" smtClean="0">
              <a:solidFill>
                <a:srgbClr val="7030A0"/>
              </a:solidFill>
            </a:endParaRPr>
          </a:p>
          <a:p>
            <a:pPr algn="justLow"/>
            <a:r>
              <a:rPr lang="en-US" b="1" dirty="0" smtClean="0"/>
              <a:t>Generally, extracted factors interpret a high percentage of  variables variance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1551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76400"/>
            <a:ext cx="86106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9633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Total Variance explained is </a:t>
            </a:r>
            <a:r>
              <a:rPr lang="en-US" b="1" dirty="0" smtClean="0">
                <a:solidFill>
                  <a:srgbClr val="FF0000"/>
                </a:solidFill>
              </a:rPr>
              <a:t>80.211 </a:t>
            </a:r>
            <a:r>
              <a:rPr lang="en-US" dirty="0" smtClean="0"/>
              <a:t>, the first factor has a highest eigenvalue (</a:t>
            </a:r>
            <a:r>
              <a:rPr lang="en-US" b="1" dirty="0" smtClean="0">
                <a:solidFill>
                  <a:srgbClr val="FF0000"/>
                </a:solidFill>
              </a:rPr>
              <a:t>2.9</a:t>
            </a:r>
            <a:r>
              <a:rPr lang="en-US" dirty="0" smtClean="0"/>
              <a:t>) and explained variance (</a:t>
            </a:r>
            <a:r>
              <a:rPr lang="en-US" b="1" dirty="0" smtClean="0">
                <a:solidFill>
                  <a:srgbClr val="FF0000"/>
                </a:solidFill>
              </a:rPr>
              <a:t>58%</a:t>
            </a:r>
            <a:r>
              <a:rPr lang="en-US" dirty="0" smtClean="0"/>
              <a:t>).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 smtClean="0"/>
              <a:t>The second factor has an eigenvalue </a:t>
            </a:r>
            <a:r>
              <a:rPr lang="en-US" b="1" dirty="0" smtClean="0">
                <a:solidFill>
                  <a:srgbClr val="FF0000"/>
                </a:solidFill>
              </a:rPr>
              <a:t>1.11 </a:t>
            </a:r>
            <a:r>
              <a:rPr lang="en-US" dirty="0" smtClean="0"/>
              <a:t>and explained variance </a:t>
            </a:r>
            <a:r>
              <a:rPr lang="en-US" b="1" dirty="0" smtClean="0">
                <a:solidFill>
                  <a:srgbClr val="FF0000"/>
                </a:solidFill>
              </a:rPr>
              <a:t>22.576%.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Variance explained by the 1</a:t>
            </a:r>
            <a:r>
              <a:rPr lang="en-US" b="1" baseline="30000" dirty="0" smtClean="0">
                <a:solidFill>
                  <a:srgbClr val="FF0000"/>
                </a:solidFill>
              </a:rPr>
              <a:t>st</a:t>
            </a:r>
            <a:r>
              <a:rPr lang="en-US" b="1" dirty="0" smtClean="0">
                <a:solidFill>
                  <a:srgbClr val="FF0000"/>
                </a:solidFill>
              </a:rPr>
              <a:t> factor = </a:t>
            </a:r>
            <a:r>
              <a:rPr lang="en-US" b="1" dirty="0" smtClean="0">
                <a:solidFill>
                  <a:srgbClr val="7030A0"/>
                </a:solidFill>
              </a:rPr>
              <a:t>(Eigenvalue for the 1</a:t>
            </a:r>
            <a:r>
              <a:rPr lang="en-US" b="1" baseline="30000" dirty="0" smtClean="0">
                <a:solidFill>
                  <a:srgbClr val="7030A0"/>
                </a:solidFill>
              </a:rPr>
              <a:t>st</a:t>
            </a:r>
            <a:r>
              <a:rPr lang="en-US" b="1" dirty="0" smtClean="0">
                <a:solidFill>
                  <a:srgbClr val="7030A0"/>
                </a:solidFill>
              </a:rPr>
              <a:t> fact / No. of all eigenvalues) * 100 = (2.9/5)*100 = 58%.</a:t>
            </a:r>
          </a:p>
          <a:p>
            <a:r>
              <a:rPr lang="en-US" b="1" dirty="0">
                <a:solidFill>
                  <a:srgbClr val="FF0000"/>
                </a:solidFill>
              </a:rPr>
              <a:t>Variance explained by the </a:t>
            </a:r>
            <a:r>
              <a:rPr lang="ar-EG" b="1" dirty="0" smtClean="0">
                <a:solidFill>
                  <a:srgbClr val="FF0000"/>
                </a:solidFill>
              </a:rPr>
              <a:t>2</a:t>
            </a:r>
            <a:r>
              <a:rPr lang="en-US" b="1" baseline="30000" dirty="0" err="1" smtClean="0">
                <a:solidFill>
                  <a:srgbClr val="FF0000"/>
                </a:solidFill>
              </a:rPr>
              <a:t>nd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factor = </a:t>
            </a:r>
            <a:r>
              <a:rPr lang="en-US" b="1" dirty="0">
                <a:solidFill>
                  <a:srgbClr val="7030A0"/>
                </a:solidFill>
              </a:rPr>
              <a:t>(Eigenvalue for the </a:t>
            </a:r>
            <a:r>
              <a:rPr lang="en-US" b="1" dirty="0" smtClean="0">
                <a:solidFill>
                  <a:srgbClr val="7030A0"/>
                </a:solidFill>
              </a:rPr>
              <a:t>2</a:t>
            </a:r>
            <a:r>
              <a:rPr lang="en-US" b="1" baseline="30000" dirty="0" smtClean="0">
                <a:solidFill>
                  <a:srgbClr val="7030A0"/>
                </a:solidFill>
              </a:rPr>
              <a:t>nd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fact / No. of all eigenvalues) * 100 = </a:t>
            </a:r>
            <a:r>
              <a:rPr lang="en-US" b="1" dirty="0" smtClean="0">
                <a:solidFill>
                  <a:srgbClr val="7030A0"/>
                </a:solidFill>
              </a:rPr>
              <a:t>(1.11/5</a:t>
            </a:r>
            <a:r>
              <a:rPr lang="en-US" b="1" dirty="0">
                <a:solidFill>
                  <a:srgbClr val="7030A0"/>
                </a:solidFill>
              </a:rPr>
              <a:t>)*100 = </a:t>
            </a:r>
            <a:r>
              <a:rPr lang="en-US" b="1" dirty="0" smtClean="0">
                <a:solidFill>
                  <a:srgbClr val="7030A0"/>
                </a:solidFill>
              </a:rPr>
              <a:t>22.2%.</a:t>
            </a:r>
            <a:endParaRPr lang="en-US" b="1" dirty="0">
              <a:solidFill>
                <a:srgbClr val="7030A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8382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399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8382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468582"/>
            <a:ext cx="8001000" cy="5008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Oval 2"/>
          <p:cNvSpPr/>
          <p:nvPr/>
        </p:nvSpPr>
        <p:spPr>
          <a:xfrm>
            <a:off x="2057400" y="1908464"/>
            <a:ext cx="762000" cy="685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276600" y="3941619"/>
            <a:ext cx="762000" cy="685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962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8382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76400"/>
            <a:ext cx="80772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341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Low"/>
            <a:r>
              <a:rPr lang="en-US" b="1" dirty="0" smtClean="0">
                <a:solidFill>
                  <a:srgbClr val="FF0000"/>
                </a:solidFill>
              </a:rPr>
              <a:t>The previous table shows the component matrix which include </a:t>
            </a:r>
            <a:r>
              <a:rPr lang="en-US" b="1" dirty="0" smtClean="0">
                <a:solidFill>
                  <a:srgbClr val="7030A0"/>
                </a:solidFill>
              </a:rPr>
              <a:t>LOADINGS</a:t>
            </a:r>
            <a:r>
              <a:rPr lang="en-US" b="1" dirty="0" smtClean="0">
                <a:solidFill>
                  <a:srgbClr val="FF0000"/>
                </a:solidFill>
              </a:rPr>
              <a:t> of  the two factors extracted.</a:t>
            </a:r>
          </a:p>
          <a:p>
            <a:pPr marL="0" indent="0" algn="justLow">
              <a:buNone/>
            </a:pPr>
            <a:r>
              <a:rPr lang="en-US" b="1" dirty="0" smtClean="0">
                <a:solidFill>
                  <a:srgbClr val="FF0000"/>
                </a:solidFill>
              </a:rPr>
              <a:t> </a:t>
            </a:r>
            <a:endParaRPr lang="en-US" b="1" dirty="0">
              <a:solidFill>
                <a:srgbClr val="FF0000"/>
              </a:solidFill>
            </a:endParaRPr>
          </a:p>
          <a:p>
            <a:pPr algn="justLow"/>
            <a:r>
              <a:rPr lang="en-US" b="1" dirty="0" smtClean="0"/>
              <a:t>Loadings : is the simple correlation coefficient between </a:t>
            </a:r>
            <a:r>
              <a:rPr lang="en-US" b="1" dirty="0" smtClean="0">
                <a:solidFill>
                  <a:srgbClr val="7030A0"/>
                </a:solidFill>
              </a:rPr>
              <a:t>factor </a:t>
            </a:r>
            <a:r>
              <a:rPr lang="en-US" b="1" dirty="0" smtClean="0"/>
              <a:t>and </a:t>
            </a:r>
            <a:r>
              <a:rPr lang="en-US" b="1" dirty="0" smtClean="0">
                <a:solidFill>
                  <a:srgbClr val="7030A0"/>
                </a:solidFill>
              </a:rPr>
              <a:t>variable</a:t>
            </a:r>
            <a:r>
              <a:rPr lang="en-US" b="1" dirty="0" smtClean="0"/>
              <a:t>. </a:t>
            </a:r>
          </a:p>
          <a:p>
            <a:pPr algn="justLow"/>
            <a:endParaRPr lang="en-US" b="1" dirty="0"/>
          </a:p>
          <a:p>
            <a:pPr algn="justLow"/>
            <a:r>
              <a:rPr lang="en-US" b="1" dirty="0" smtClean="0"/>
              <a:t>From component matrix the </a:t>
            </a:r>
            <a:r>
              <a:rPr lang="en-US" b="1" u="sng" dirty="0" smtClean="0"/>
              <a:t>Highest</a:t>
            </a:r>
            <a:r>
              <a:rPr lang="en-US" b="1" dirty="0" smtClean="0"/>
              <a:t> correlated variable with the 1</a:t>
            </a:r>
            <a:r>
              <a:rPr lang="en-US" b="1" baseline="30000" dirty="0" smtClean="0"/>
              <a:t>st</a:t>
            </a:r>
            <a:r>
              <a:rPr lang="en-US" b="1" dirty="0" smtClean="0"/>
              <a:t> factor was “</a:t>
            </a:r>
            <a:r>
              <a:rPr lang="en-US" b="1" dirty="0" err="1" smtClean="0">
                <a:solidFill>
                  <a:srgbClr val="7030A0"/>
                </a:solidFill>
              </a:rPr>
              <a:t>higheduc</a:t>
            </a:r>
            <a:r>
              <a:rPr lang="en-US" b="1" dirty="0" smtClean="0"/>
              <a:t>” where factor loading with the variable </a:t>
            </a:r>
            <a:r>
              <a:rPr lang="en-US" b="1" dirty="0"/>
              <a:t>“</a:t>
            </a:r>
            <a:r>
              <a:rPr lang="en-US" b="1" dirty="0" err="1">
                <a:solidFill>
                  <a:srgbClr val="7030A0"/>
                </a:solidFill>
              </a:rPr>
              <a:t>higheduc</a:t>
            </a:r>
            <a:r>
              <a:rPr lang="en-US" b="1" dirty="0"/>
              <a:t>” </a:t>
            </a:r>
            <a:r>
              <a:rPr lang="en-US" b="1" dirty="0" smtClean="0"/>
              <a:t>was 0.941.</a:t>
            </a:r>
          </a:p>
          <a:p>
            <a:r>
              <a:rPr lang="en-US" b="1" dirty="0" smtClean="0"/>
              <a:t>Then “</a:t>
            </a:r>
            <a:r>
              <a:rPr lang="en-US" b="1" dirty="0" smtClean="0">
                <a:solidFill>
                  <a:srgbClr val="7030A0"/>
                </a:solidFill>
              </a:rPr>
              <a:t>literacy</a:t>
            </a:r>
            <a:r>
              <a:rPr lang="en-US" b="1" dirty="0" smtClean="0"/>
              <a:t>” with 0.918 then </a:t>
            </a:r>
            <a:r>
              <a:rPr lang="en-US" b="1" dirty="0" smtClean="0">
                <a:solidFill>
                  <a:srgbClr val="7030A0"/>
                </a:solidFill>
              </a:rPr>
              <a:t>“doctors” </a:t>
            </a:r>
            <a:r>
              <a:rPr lang="en-US" b="1" dirty="0" smtClean="0"/>
              <a:t>with 0.829</a:t>
            </a:r>
            <a:r>
              <a:rPr lang="en-US" dirty="0"/>
              <a:t>	</a:t>
            </a:r>
          </a:p>
          <a:p>
            <a:endParaRPr lang="en-US" dirty="0"/>
          </a:p>
          <a:p>
            <a:pPr marL="0" indent="0" algn="justLow">
              <a:buNone/>
            </a:pPr>
            <a:endParaRPr lang="en-US" b="1" dirty="0"/>
          </a:p>
        </p:txBody>
      </p:sp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8382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760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24000"/>
            <a:ext cx="8534400" cy="4876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 smtClean="0"/>
              <a:t>From component matrix the </a:t>
            </a:r>
            <a:r>
              <a:rPr lang="en-US" sz="2800" u="sng" dirty="0" smtClean="0"/>
              <a:t>Highest</a:t>
            </a:r>
            <a:r>
              <a:rPr lang="en-US" sz="2800" dirty="0" smtClean="0"/>
              <a:t> correlated variable with the 2</a:t>
            </a:r>
            <a:r>
              <a:rPr lang="en-US" sz="2800" baseline="30000" dirty="0" smtClean="0"/>
              <a:t>nd</a:t>
            </a:r>
            <a:r>
              <a:rPr lang="en-US" sz="2800" dirty="0" smtClean="0"/>
              <a:t> factor was “</a:t>
            </a:r>
            <a:r>
              <a:rPr lang="en-US" sz="2800" dirty="0" err="1" smtClean="0">
                <a:solidFill>
                  <a:srgbClr val="7030A0"/>
                </a:solidFill>
              </a:rPr>
              <a:t>gdb</a:t>
            </a:r>
            <a:r>
              <a:rPr lang="en-US" sz="2800" dirty="0" smtClean="0"/>
              <a:t>” where factor loading with the variable “</a:t>
            </a:r>
            <a:r>
              <a:rPr lang="en-US" sz="2800" dirty="0" err="1">
                <a:solidFill>
                  <a:srgbClr val="7030A0"/>
                </a:solidFill>
              </a:rPr>
              <a:t>gdb</a:t>
            </a:r>
            <a:r>
              <a:rPr lang="en-US" sz="2800" dirty="0" smtClean="0"/>
              <a:t>” was 0.754.</a:t>
            </a:r>
          </a:p>
          <a:p>
            <a:pPr marL="0" indent="0">
              <a:buNone/>
            </a:pPr>
            <a:r>
              <a:rPr lang="en-US" sz="2800" dirty="0" smtClean="0"/>
              <a:t>Then “</a:t>
            </a:r>
            <a:r>
              <a:rPr lang="en-US" sz="2800" dirty="0" err="1" smtClean="0">
                <a:solidFill>
                  <a:srgbClr val="7030A0"/>
                </a:solidFill>
              </a:rPr>
              <a:t>Hospbed</a:t>
            </a:r>
            <a:r>
              <a:rPr lang="en-US" sz="2800" dirty="0" smtClean="0"/>
              <a:t>” with -0.716 then </a:t>
            </a:r>
            <a:r>
              <a:rPr lang="en-US" sz="2800" dirty="0" smtClean="0">
                <a:solidFill>
                  <a:srgbClr val="7030A0"/>
                </a:solidFill>
              </a:rPr>
              <a:t>“doctors” </a:t>
            </a:r>
            <a:r>
              <a:rPr lang="en-US" sz="2800" dirty="0" smtClean="0"/>
              <a:t>with -0.131</a:t>
            </a:r>
          </a:p>
          <a:p>
            <a:pPr marL="0" indent="0">
              <a:buNone/>
            </a:pPr>
            <a:r>
              <a:rPr lang="en-US" sz="2800" b="1" dirty="0" smtClean="0">
                <a:solidFill>
                  <a:srgbClr val="7030A0"/>
                </a:solidFill>
              </a:rPr>
              <a:t>Note:</a:t>
            </a:r>
            <a:r>
              <a:rPr lang="en-US" sz="2800" dirty="0">
                <a:solidFill>
                  <a:srgbClr val="7030A0"/>
                </a:solidFill>
              </a:rPr>
              <a:t>	</a:t>
            </a:r>
          </a:p>
          <a:p>
            <a:pPr marL="0" indent="0">
              <a:buNone/>
            </a:pPr>
            <a:r>
              <a:rPr lang="en-US" sz="2800" u="sng" dirty="0" smtClean="0">
                <a:solidFill>
                  <a:srgbClr val="FF0000"/>
                </a:solidFill>
              </a:rPr>
              <a:t>The communality of variable is sum of squares of loadings of variable with extracted variables.</a:t>
            </a:r>
          </a:p>
          <a:p>
            <a:pPr marL="0" indent="0">
              <a:buNone/>
            </a:pPr>
            <a:endParaRPr lang="en-US" sz="2800" u="sng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800" dirty="0" smtClean="0">
                <a:solidFill>
                  <a:srgbClr val="7030A0"/>
                </a:solidFill>
              </a:rPr>
              <a:t>Communality of “</a:t>
            </a:r>
            <a:r>
              <a:rPr lang="en-US" sz="2800" dirty="0" err="1" smtClean="0">
                <a:solidFill>
                  <a:srgbClr val="7030A0"/>
                </a:solidFill>
              </a:rPr>
              <a:t>gdb</a:t>
            </a:r>
            <a:r>
              <a:rPr lang="en-US" sz="2800" dirty="0" smtClean="0">
                <a:solidFill>
                  <a:srgbClr val="7030A0"/>
                </a:solidFill>
              </a:rPr>
              <a:t>” = (0.477)^2 + (0.754)^2 = 0.797.</a:t>
            </a:r>
            <a:r>
              <a:rPr lang="en-US" sz="2800" dirty="0" smtClean="0">
                <a:solidFill>
                  <a:srgbClr val="FF0000"/>
                </a:solidFill>
              </a:rPr>
              <a:t>	</a:t>
            </a:r>
            <a:endParaRPr lang="en-US" sz="2800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800" b="1" dirty="0"/>
          </a:p>
        </p:txBody>
      </p:sp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8382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39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3810000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The sum of squares of variable loading with the factor (factor loading) equal the eigenvalue of the factor , for instance :</a:t>
            </a:r>
          </a:p>
          <a:p>
            <a:pPr marL="0" indent="0">
              <a:buNone/>
            </a:pPr>
            <a:r>
              <a:rPr lang="en-US" sz="2800" dirty="0" smtClean="0"/>
              <a:t>The eigenvalue of the 1</a:t>
            </a:r>
            <a:r>
              <a:rPr lang="en-US" sz="2800" baseline="30000" dirty="0" smtClean="0"/>
              <a:t>st</a:t>
            </a:r>
            <a:r>
              <a:rPr lang="en-US" sz="2800" dirty="0" smtClean="0"/>
              <a:t> factor = </a:t>
            </a:r>
            <a:r>
              <a:rPr lang="en-US" sz="2800" dirty="0">
                <a:solidFill>
                  <a:srgbClr val="7030A0"/>
                </a:solidFill>
              </a:rPr>
              <a:t>(0.477)^2 + (</a:t>
            </a:r>
            <a:r>
              <a:rPr lang="en-US" sz="2800" dirty="0" smtClean="0">
                <a:solidFill>
                  <a:srgbClr val="7030A0"/>
                </a:solidFill>
              </a:rPr>
              <a:t>0.918)^2 +</a:t>
            </a:r>
            <a:r>
              <a:rPr lang="en-US" sz="2800" dirty="0">
                <a:solidFill>
                  <a:srgbClr val="7030A0"/>
                </a:solidFill>
              </a:rPr>
              <a:t> (</a:t>
            </a:r>
            <a:r>
              <a:rPr lang="en-US" sz="2800" dirty="0" smtClean="0">
                <a:solidFill>
                  <a:srgbClr val="7030A0"/>
                </a:solidFill>
              </a:rPr>
              <a:t>0.941)^</a:t>
            </a:r>
            <a:r>
              <a:rPr lang="en-US" sz="2800" dirty="0">
                <a:solidFill>
                  <a:srgbClr val="7030A0"/>
                </a:solidFill>
              </a:rPr>
              <a:t>2</a:t>
            </a:r>
            <a:r>
              <a:rPr lang="en-US" sz="2800" dirty="0" smtClean="0">
                <a:solidFill>
                  <a:srgbClr val="7030A0"/>
                </a:solidFill>
              </a:rPr>
              <a:t> +</a:t>
            </a:r>
            <a:r>
              <a:rPr lang="en-US" sz="2800" dirty="0">
                <a:solidFill>
                  <a:srgbClr val="7030A0"/>
                </a:solidFill>
              </a:rPr>
              <a:t> (</a:t>
            </a:r>
            <a:r>
              <a:rPr lang="en-US" sz="2800" dirty="0" smtClean="0">
                <a:solidFill>
                  <a:srgbClr val="7030A0"/>
                </a:solidFill>
              </a:rPr>
              <a:t>0.829)^</a:t>
            </a:r>
            <a:r>
              <a:rPr lang="en-US" sz="2800" dirty="0">
                <a:solidFill>
                  <a:srgbClr val="7030A0"/>
                </a:solidFill>
              </a:rPr>
              <a:t>2</a:t>
            </a:r>
            <a:r>
              <a:rPr lang="en-US" sz="2800" dirty="0" smtClean="0">
                <a:solidFill>
                  <a:srgbClr val="7030A0"/>
                </a:solidFill>
              </a:rPr>
              <a:t> + </a:t>
            </a:r>
            <a:r>
              <a:rPr lang="en-US" sz="2800" dirty="0">
                <a:solidFill>
                  <a:srgbClr val="7030A0"/>
                </a:solidFill>
              </a:rPr>
              <a:t>(</a:t>
            </a:r>
            <a:r>
              <a:rPr lang="en-US" sz="2800" dirty="0" smtClean="0">
                <a:solidFill>
                  <a:srgbClr val="7030A0"/>
                </a:solidFill>
              </a:rPr>
              <a:t>0.508)^</a:t>
            </a:r>
            <a:r>
              <a:rPr lang="en-US" sz="2800" dirty="0">
                <a:solidFill>
                  <a:srgbClr val="7030A0"/>
                </a:solidFill>
              </a:rPr>
              <a:t>2 </a:t>
            </a:r>
            <a:r>
              <a:rPr lang="en-US" sz="2800" dirty="0" smtClean="0">
                <a:solidFill>
                  <a:srgbClr val="7030A0"/>
                </a:solidFill>
              </a:rPr>
              <a:t>= 2.9</a:t>
            </a:r>
          </a:p>
          <a:p>
            <a:pPr marL="0" indent="0">
              <a:buNone/>
            </a:pPr>
            <a:endParaRPr lang="en-US" sz="2800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800" dirty="0" smtClean="0">
                <a:solidFill>
                  <a:srgbClr val="FF0000"/>
                </a:solidFill>
              </a:rPr>
              <a:t>CHECK the eigenvalue of 2</a:t>
            </a:r>
            <a:r>
              <a:rPr lang="en-US" sz="2800" baseline="30000" dirty="0" smtClean="0">
                <a:solidFill>
                  <a:srgbClr val="FF0000"/>
                </a:solidFill>
              </a:rPr>
              <a:t>nd</a:t>
            </a:r>
            <a:r>
              <a:rPr lang="en-US" sz="2800" dirty="0" smtClean="0">
                <a:solidFill>
                  <a:srgbClr val="FF0000"/>
                </a:solidFill>
              </a:rPr>
              <a:t> factor ???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	</a:t>
            </a:r>
            <a:endParaRPr lang="en-US" sz="2800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800" b="1" dirty="0"/>
          </a:p>
          <a:p>
            <a:endParaRPr lang="en-US" sz="2800" dirty="0"/>
          </a:p>
          <a:p>
            <a:pPr marL="0" indent="0">
              <a:buNone/>
            </a:pPr>
            <a:endParaRPr lang="en-US" sz="2800" b="1" dirty="0"/>
          </a:p>
        </p:txBody>
      </p:sp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8382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23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381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	</a:t>
            </a:r>
            <a:endParaRPr lang="en-US" sz="2800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800" b="1" dirty="0"/>
          </a:p>
          <a:p>
            <a:endParaRPr lang="en-US" sz="2800" dirty="0"/>
          </a:p>
          <a:p>
            <a:pPr marL="0" indent="0">
              <a:buNone/>
            </a:pPr>
            <a:endParaRPr lang="en-US" sz="2800" b="1" dirty="0"/>
          </a:p>
        </p:txBody>
      </p:sp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382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47800"/>
            <a:ext cx="76200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276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58200" cy="3810000"/>
              </a:xfrm>
            </p:spPr>
            <p:txBody>
              <a:bodyPr>
                <a:normAutofit fontScale="92500" lnSpcReduction="20000"/>
              </a:bodyPr>
              <a:lstStyle/>
              <a:p>
                <a:pPr algn="justLow"/>
                <a:r>
                  <a:rPr lang="en-US" sz="2800" b="1" dirty="0" smtClean="0">
                    <a:solidFill>
                      <a:srgbClr val="FF0000"/>
                    </a:solidFill>
                  </a:rPr>
                  <a:t>This matrix is called </a:t>
                </a:r>
                <a:r>
                  <a:rPr lang="en-US" sz="2800" b="1" dirty="0" smtClean="0"/>
                  <a:t>“Component Score Coefficient Matrix”.</a:t>
                </a:r>
              </a:p>
              <a:p>
                <a:pPr algn="justLow"/>
                <a:r>
                  <a:rPr lang="en-US" sz="2800" b="1" dirty="0" smtClean="0"/>
                  <a:t>The elements (</a:t>
                </a:r>
                <a:r>
                  <a:rPr lang="en-US" sz="2800" b="1" dirty="0" smtClean="0">
                    <a:solidFill>
                      <a:srgbClr val="7030A0"/>
                    </a:solidFill>
                  </a:rPr>
                  <a:t>components coefficients</a:t>
                </a:r>
                <a:r>
                  <a:rPr lang="en-US" sz="2800" b="1" dirty="0" smtClean="0"/>
                  <a:t>) of this matrix is calculated from the previous matrix “components matrix” for instance : </a:t>
                </a:r>
              </a:p>
              <a:p>
                <a:pPr algn="justLow"/>
                <a:r>
                  <a:rPr lang="en-US" sz="2800" b="1" dirty="0" smtClean="0"/>
                  <a:t>Coefficient of “</a:t>
                </a:r>
                <a:r>
                  <a:rPr lang="en-US" sz="2800" b="1" dirty="0" err="1" smtClean="0"/>
                  <a:t>gdp</a:t>
                </a:r>
                <a:r>
                  <a:rPr lang="en-US" sz="2800" b="1" dirty="0" smtClean="0"/>
                  <a:t>” of the 1</a:t>
                </a:r>
                <a:r>
                  <a:rPr lang="en-US" sz="2800" b="1" baseline="30000" dirty="0" smtClean="0"/>
                  <a:t>st</a:t>
                </a:r>
                <a:r>
                  <a:rPr lang="en-US" sz="2800" b="1" dirty="0" smtClean="0"/>
                  <a:t> factor  = </a:t>
                </a:r>
              </a:p>
              <a:p>
                <a:pPr algn="justLow"/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/>
                          </a:rPr>
                          <m:t>𝟎</m:t>
                        </m:r>
                        <m:r>
                          <a:rPr lang="en-US" sz="2800" b="1" i="1" smtClean="0">
                            <a:latin typeface="Cambria Math"/>
                          </a:rPr>
                          <m:t>.</m:t>
                        </m:r>
                        <m:r>
                          <a:rPr lang="en-US" sz="2800" b="1" i="1" smtClean="0">
                            <a:latin typeface="Cambria Math"/>
                          </a:rPr>
                          <m:t>𝟒𝟕𝟕</m:t>
                        </m:r>
                      </m:num>
                      <m:den>
                        <m:r>
                          <a:rPr lang="en-US" sz="2800" b="1" i="1" smtClean="0">
                            <a:latin typeface="Cambria Math"/>
                          </a:rPr>
                          <m:t>𝟎</m:t>
                        </m:r>
                        <m:r>
                          <a:rPr lang="en-US" sz="2800" b="1" i="1" smtClean="0">
                            <a:latin typeface="Cambria Math"/>
                          </a:rPr>
                          <m:t>.</m:t>
                        </m:r>
                        <m:r>
                          <a:rPr lang="en-US" sz="2800" b="1" i="1" smtClean="0">
                            <a:latin typeface="Cambria Math"/>
                          </a:rPr>
                          <m:t>𝟒𝟕</m:t>
                        </m:r>
                        <m:sSup>
                          <m:sSup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 smtClean="0">
                                <a:latin typeface="Cambria Math"/>
                              </a:rPr>
                              <m:t>𝟕</m:t>
                            </m:r>
                          </m:e>
                          <m:sup>
                            <m:r>
                              <a:rPr lang="en-US" sz="2800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sz="2800" b="1" i="1" smtClean="0">
                            <a:latin typeface="Cambria Math"/>
                          </a:rPr>
                          <m:t>+</m:t>
                        </m:r>
                        <m:r>
                          <a:rPr lang="en-US" sz="2800" b="1" i="1" smtClean="0">
                            <a:latin typeface="Cambria Math"/>
                          </a:rPr>
                          <m:t>𝟎</m:t>
                        </m:r>
                        <m:r>
                          <a:rPr lang="en-US" sz="2800" b="1" i="1" smtClean="0">
                            <a:latin typeface="Cambria Math"/>
                          </a:rPr>
                          <m:t>.</m:t>
                        </m:r>
                        <m:r>
                          <a:rPr lang="en-US" sz="2800" b="1" i="1" smtClean="0">
                            <a:latin typeface="Cambria Math"/>
                          </a:rPr>
                          <m:t>𝟗𝟏</m:t>
                        </m:r>
                        <m:sSup>
                          <m:sSup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 smtClean="0">
                                <a:latin typeface="Cambria Math"/>
                              </a:rPr>
                              <m:t>𝟖</m:t>
                            </m:r>
                          </m:e>
                          <m:sup>
                            <m:r>
                              <a:rPr lang="en-US" sz="2800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sz="2800" b="1" i="1" smtClean="0">
                            <a:latin typeface="Cambria Math"/>
                          </a:rPr>
                          <m:t>+</m:t>
                        </m:r>
                        <m:r>
                          <a:rPr lang="en-US" sz="2800" b="1" i="1" smtClean="0">
                            <a:latin typeface="Cambria Math"/>
                          </a:rPr>
                          <m:t>𝟎</m:t>
                        </m:r>
                        <m:r>
                          <a:rPr lang="en-US" sz="2800" b="1" i="1" smtClean="0">
                            <a:latin typeface="Cambria Math"/>
                          </a:rPr>
                          <m:t>.</m:t>
                        </m:r>
                        <m:r>
                          <a:rPr lang="en-US" sz="2800" b="1" i="1" smtClean="0">
                            <a:latin typeface="Cambria Math"/>
                          </a:rPr>
                          <m:t>𝟗𝟒</m:t>
                        </m:r>
                        <m:sSup>
                          <m:sSup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 smtClean="0">
                                <a:latin typeface="Cambria Math"/>
                              </a:rPr>
                              <m:t>𝟏</m:t>
                            </m:r>
                          </m:e>
                          <m:sup>
                            <m:r>
                              <a:rPr lang="en-US" sz="2800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sz="2800" b="1" i="1" smtClean="0">
                            <a:latin typeface="Cambria Math"/>
                          </a:rPr>
                          <m:t>+</m:t>
                        </m:r>
                        <m:r>
                          <a:rPr lang="en-US" sz="2800" b="1" i="1" smtClean="0">
                            <a:latin typeface="Cambria Math"/>
                          </a:rPr>
                          <m:t>𝟎</m:t>
                        </m:r>
                        <m:r>
                          <a:rPr lang="en-US" sz="2800" b="1" i="1" smtClean="0">
                            <a:latin typeface="Cambria Math"/>
                          </a:rPr>
                          <m:t>.</m:t>
                        </m:r>
                        <m:r>
                          <a:rPr lang="en-US" sz="2800" b="1" i="1" smtClean="0">
                            <a:latin typeface="Cambria Math"/>
                          </a:rPr>
                          <m:t>𝟖𝟐</m:t>
                        </m:r>
                        <m:sSup>
                          <m:sSup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 smtClean="0">
                                <a:latin typeface="Cambria Math"/>
                              </a:rPr>
                              <m:t>𝟗</m:t>
                            </m:r>
                          </m:e>
                          <m:sup>
                            <m:r>
                              <a:rPr lang="en-US" sz="2800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sz="2800" b="1" i="1" smtClean="0">
                            <a:latin typeface="Cambria Math"/>
                          </a:rPr>
                          <m:t>+</m:t>
                        </m:r>
                        <m:r>
                          <a:rPr lang="en-US" sz="2800" b="1" i="1" smtClean="0">
                            <a:latin typeface="Cambria Math"/>
                          </a:rPr>
                          <m:t>𝟎</m:t>
                        </m:r>
                        <m:r>
                          <a:rPr lang="en-US" sz="2800" b="1" i="1" smtClean="0">
                            <a:latin typeface="Cambria Math"/>
                          </a:rPr>
                          <m:t>.</m:t>
                        </m:r>
                        <m:r>
                          <a:rPr lang="en-US" sz="2800" b="1" i="1" smtClean="0">
                            <a:latin typeface="Cambria Math"/>
                          </a:rPr>
                          <m:t>𝟓𝟎</m:t>
                        </m:r>
                        <m:sSup>
                          <m:sSup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 smtClean="0">
                                <a:latin typeface="Cambria Math"/>
                              </a:rPr>
                              <m:t>𝟖</m:t>
                            </m:r>
                          </m:e>
                          <m:sup>
                            <m:r>
                              <a:rPr lang="en-US" sz="2800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800" b="1" dirty="0" smtClean="0"/>
                  <a:t> = 0.165 </a:t>
                </a:r>
              </a:p>
              <a:p>
                <a:pPr algn="justLow"/>
                <a:endParaRPr lang="en-US" sz="2800" b="1" dirty="0"/>
              </a:p>
              <a:p>
                <a:pPr marL="0" indent="0" algn="ctr">
                  <a:buNone/>
                </a:pPr>
                <a:r>
                  <a:rPr lang="en-US" sz="2800" b="1" dirty="0" smtClean="0">
                    <a:solidFill>
                      <a:srgbClr val="7030A0"/>
                    </a:solidFill>
                  </a:rPr>
                  <a:t>(in case of no rotation )</a:t>
                </a:r>
                <a:endParaRPr lang="en-US" sz="2800" b="1" dirty="0">
                  <a:solidFill>
                    <a:srgbClr val="7030A0"/>
                  </a:solidFill>
                </a:endParaRPr>
              </a:p>
              <a:p>
                <a:endParaRPr lang="en-US" sz="2800" dirty="0"/>
              </a:p>
              <a:p>
                <a:pPr marL="0" indent="0">
                  <a:buNone/>
                </a:pPr>
                <a:endParaRPr lang="en-US" sz="2800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800" b="1" dirty="0"/>
              </a:p>
              <a:p>
                <a:endParaRPr lang="en-US" sz="2800" dirty="0"/>
              </a:p>
              <a:p>
                <a:pPr marL="0" indent="0">
                  <a:buNone/>
                </a:pPr>
                <a:endParaRPr lang="en-US" sz="2800" b="1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58200" cy="3810000"/>
              </a:xfrm>
              <a:blipFill rotWithShape="1">
                <a:blip r:embed="rId2"/>
                <a:stretch>
                  <a:fillRect l="-793" t="-3520" r="-2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8382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31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191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 smtClean="0"/>
              <a:t>Finally we can write the equation for two factors :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smtClean="0">
                <a:solidFill>
                  <a:srgbClr val="FF0000"/>
                </a:solidFill>
              </a:rPr>
              <a:t>Fac_1 =0.094*gdb+0.313*literacy + 0.313*</a:t>
            </a:r>
            <a:r>
              <a:rPr lang="en-US" sz="2800" dirty="0" err="1" smtClean="0">
                <a:solidFill>
                  <a:srgbClr val="FF0000"/>
                </a:solidFill>
              </a:rPr>
              <a:t>higheduc</a:t>
            </a:r>
            <a:r>
              <a:rPr lang="en-US" sz="2800" dirty="0">
                <a:solidFill>
                  <a:srgbClr val="FF0000"/>
                </a:solidFill>
              </a:rPr>
              <a:t>	</a:t>
            </a:r>
            <a:r>
              <a:rPr lang="en-US" sz="2800" dirty="0" smtClean="0">
                <a:solidFill>
                  <a:srgbClr val="FF0000"/>
                </a:solidFill>
              </a:rPr>
              <a:t>+ 0.296*doctors + 0.240*</a:t>
            </a:r>
            <a:r>
              <a:rPr lang="en-US" sz="2800" dirty="0" err="1" smtClean="0">
                <a:solidFill>
                  <a:srgbClr val="FF0000"/>
                </a:solidFill>
              </a:rPr>
              <a:t>hospbed</a:t>
            </a:r>
            <a:r>
              <a:rPr lang="en-US" sz="2800" dirty="0"/>
              <a:t>	</a:t>
            </a:r>
          </a:p>
          <a:p>
            <a:pPr marL="0" indent="0" algn="just">
              <a:buNone/>
            </a:pPr>
            <a:r>
              <a:rPr lang="en-US" sz="2800" dirty="0" smtClean="0"/>
              <a:t>   (in case of there is a rotation)</a:t>
            </a:r>
            <a:endParaRPr lang="en-US" sz="2800" dirty="0"/>
          </a:p>
          <a:p>
            <a:pPr marL="0" indent="0">
              <a:buNone/>
            </a:pPr>
            <a:r>
              <a:rPr lang="en-US" sz="2800" dirty="0" smtClean="0"/>
              <a:t>Fact_2 = ???</a:t>
            </a:r>
            <a:r>
              <a:rPr lang="en-US" sz="2800" dirty="0"/>
              <a:t>	</a:t>
            </a:r>
          </a:p>
          <a:p>
            <a:pPr marL="0" indent="0" algn="justLow">
              <a:buNone/>
            </a:pPr>
            <a:endParaRPr lang="en-US" sz="2800" dirty="0" smtClean="0"/>
          </a:p>
          <a:p>
            <a:pPr marL="0" indent="0" algn="justLow">
              <a:buNone/>
            </a:pPr>
            <a:r>
              <a:rPr lang="en-US" sz="2800" dirty="0" err="1" smtClean="0">
                <a:solidFill>
                  <a:srgbClr val="002060"/>
                </a:solidFill>
              </a:rPr>
              <a:t>Assignement</a:t>
            </a:r>
            <a:r>
              <a:rPr lang="en-US" sz="2800" dirty="0" smtClean="0">
                <a:solidFill>
                  <a:srgbClr val="002060"/>
                </a:solidFill>
              </a:rPr>
              <a:t> 1 – examine how to get the component score coefficient matrix in case of there is a rotation. </a:t>
            </a:r>
            <a:endParaRPr lang="en-US" sz="28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800" dirty="0" smtClean="0">
                <a:solidFill>
                  <a:srgbClr val="00B050"/>
                </a:solidFill>
              </a:rPr>
              <a:t> </a:t>
            </a:r>
            <a:endParaRPr lang="en-US" sz="2800" dirty="0"/>
          </a:p>
          <a:p>
            <a:pPr marL="0" indent="0">
              <a:buNone/>
            </a:pPr>
            <a:endParaRPr lang="en-US" sz="2800" b="1" dirty="0"/>
          </a:p>
          <a:p>
            <a:endParaRPr lang="en-US" sz="2800" dirty="0"/>
          </a:p>
          <a:p>
            <a:pPr marL="0" indent="0">
              <a:buNone/>
            </a:pPr>
            <a:endParaRPr lang="en-US" sz="2800" b="1" dirty="0"/>
          </a:p>
        </p:txBody>
      </p:sp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8382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7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14295</TotalTime>
  <Words>2107</Words>
  <Application>Microsoft Office PowerPoint</Application>
  <PresentationFormat>On-screen Show (4:3)</PresentationFormat>
  <Paragraphs>439</Paragraphs>
  <Slides>44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Calibri</vt:lpstr>
      <vt:lpstr>Cambria Math</vt:lpstr>
      <vt:lpstr>Times New Roman</vt:lpstr>
      <vt:lpstr>Wingdings</vt:lpstr>
      <vt:lpstr>Wingdings 2</vt:lpstr>
      <vt:lpstr>Clarity</vt:lpstr>
      <vt:lpstr>Multivariate StatiSTICal Analysis</vt:lpstr>
      <vt:lpstr>Steps in Factor Analysis: The Correlation Matrix</vt:lpstr>
      <vt:lpstr>Steps in Factor Analysis: The Correlation Matrix</vt:lpstr>
      <vt:lpstr>Steps in Factor Analysis: The Correlation Matrix</vt:lpstr>
      <vt:lpstr>Steps in Factor Analysis: The Correlation Matrix</vt:lpstr>
      <vt:lpstr>Steps in Factor Analysis: Factor Extraction</vt:lpstr>
      <vt:lpstr>Steps in Factor Analysis: Factor Extraction</vt:lpstr>
      <vt:lpstr>Steps in Factor Analysis: Factor Extraction</vt:lpstr>
      <vt:lpstr>Steps in Factor Analysis: Factor Extraction</vt:lpstr>
      <vt:lpstr>Steps in Factor Analysis: Factor Extraction</vt:lpstr>
      <vt:lpstr>Steps in Factor Analysis: Factor Extraction</vt:lpstr>
      <vt:lpstr>Steps in Factor Analysis: Factor Extraction</vt:lpstr>
      <vt:lpstr>Steps in Factor Analysis: Factor Extraction</vt:lpstr>
      <vt:lpstr>Steps in Factor Analysis: Factor Extraction</vt:lpstr>
      <vt:lpstr>Steps in Factor Analysis: Factor Extraction</vt:lpstr>
      <vt:lpstr>Steps in Factor Analysis: Factor Rotation</vt:lpstr>
      <vt:lpstr>Steps in Factor Analysis: Factor Rotation</vt:lpstr>
      <vt:lpstr>Steps in Factor Analysis: Making Final Decisions</vt:lpstr>
      <vt:lpstr>Steps in Factor Analysis: Making Final Decisions</vt:lpstr>
      <vt:lpstr>Assumptions Underlying Factor Analysis</vt:lpstr>
      <vt:lpstr>Obtaining a Factor Analysis</vt:lpstr>
      <vt:lpstr>Obtaining a Factor Analysis</vt:lpstr>
      <vt:lpstr>Obtaining a Factor Analysis</vt:lpstr>
      <vt:lpstr>Obtaining a Factor Analysis</vt:lpstr>
      <vt:lpstr>Obtaining a Factor Analysis</vt:lpstr>
      <vt:lpstr>Obtaining a Factor Analysis</vt:lpstr>
      <vt:lpstr>Principal Components methods – Mathematical View</vt:lpstr>
      <vt:lpstr>Principal Components methods – Mathematical View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الجوانب الاحصائية في السكان DEM 600</dc:title>
  <dc:creator>noura</dc:creator>
  <cp:lastModifiedBy>Abdelhameed Elshabrawy</cp:lastModifiedBy>
  <cp:revision>186</cp:revision>
  <dcterms:created xsi:type="dcterms:W3CDTF">2015-10-20T08:24:47Z</dcterms:created>
  <dcterms:modified xsi:type="dcterms:W3CDTF">2026-04-01T20:05:13Z</dcterms:modified>
</cp:coreProperties>
</file>